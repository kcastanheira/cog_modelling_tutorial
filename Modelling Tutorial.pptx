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7" r:id="rId2"/>
    <p:sldId id="259" r:id="rId3"/>
    <p:sldId id="260" r:id="rId4"/>
    <p:sldId id="261" r:id="rId5"/>
    <p:sldId id="262" r:id="rId6"/>
    <p:sldId id="263" r:id="rId7"/>
    <p:sldId id="286" r:id="rId8"/>
    <p:sldId id="264" r:id="rId9"/>
    <p:sldId id="265" r:id="rId10"/>
    <p:sldId id="266" r:id="rId11"/>
    <p:sldId id="287" r:id="rId12"/>
    <p:sldId id="268" r:id="rId13"/>
    <p:sldId id="269" r:id="rId14"/>
    <p:sldId id="270" r:id="rId15"/>
    <p:sldId id="271" r:id="rId16"/>
    <p:sldId id="272" r:id="rId17"/>
    <p:sldId id="273" r:id="rId18"/>
    <p:sldId id="281" r:id="rId19"/>
    <p:sldId id="277" r:id="rId20"/>
    <p:sldId id="275" r:id="rId21"/>
    <p:sldId id="278" r:id="rId22"/>
    <p:sldId id="279" r:id="rId23"/>
    <p:sldId id="280" r:id="rId24"/>
    <p:sldId id="284" r:id="rId25"/>
    <p:sldId id="282" r:id="rId26"/>
    <p:sldId id="283" r:id="rId27"/>
    <p:sldId id="294" r:id="rId28"/>
    <p:sldId id="285" r:id="rId29"/>
    <p:sldId id="289" r:id="rId30"/>
    <p:sldId id="292" r:id="rId31"/>
    <p:sldId id="291" r:id="rId32"/>
    <p:sldId id="290" r:id="rId33"/>
    <p:sldId id="293" r:id="rId34"/>
    <p:sldId id="288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31"/>
    <p:restoredTop sz="91320"/>
  </p:normalViewPr>
  <p:slideViewPr>
    <p:cSldViewPr snapToGrid="0" snapToObjects="1">
      <p:cViewPr varScale="1">
        <p:scale>
          <a:sx n="76" d="100"/>
          <a:sy n="76" d="100"/>
        </p:scale>
        <p:origin x="216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3F801E-0FDB-414A-BC65-AF24B6303C3B}" type="datetimeFigureOut">
              <a:rPr lang="en-US" smtClean="0"/>
              <a:t>5/30/18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2AB347-178C-B344-9E21-30F93614D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268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facweb.cti.depaul.edu/mobasher/classes/HON207/Readings/cognitive-modeling.pdf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4377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Marr, D. C. (1982). A computational investigation into the human representation and processing of visual information. </a:t>
            </a:r>
            <a:r>
              <a:rPr lang="en-US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Free-man, San Francisco, CA</a:t>
            </a:r>
            <a:r>
              <a:rPr lang="en-US" sz="120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37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http://facweb.cti.depaul.edu/mobasher/classes/HON207/Readings/cognitive-modeling.pdf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2AB347-178C-B344-9E21-30F93614D6F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8960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3862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566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EA8144-C080-BF49-9019-09EE0F8D39E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9530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in 7 people die from cancer but 1 in 88 people die in motor vehicle accidents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2AB347-178C-B344-9E21-30F93614D6F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76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8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31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680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47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205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07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115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99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07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732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83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FA36D5-AD61-8F46-BA4F-560EE1657858}" type="datetimeFigureOut">
              <a:rPr lang="en-US" smtClean="0"/>
              <a:t>5/30/18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00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facweb.cti.depaul.edu/mobasher/classes/HON207/Readings/cognitive-modeling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NUL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NUL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jp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Cognitive Modelling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May 30</a:t>
            </a:r>
            <a:r>
              <a:rPr lang="en-US" baseline="30000" dirty="0"/>
              <a:t>th</a:t>
            </a:r>
            <a:r>
              <a:rPr lang="en-US" dirty="0"/>
              <a:t>, 2018</a:t>
            </a:r>
          </a:p>
          <a:p>
            <a:r>
              <a:rPr lang="en-US" dirty="0"/>
              <a:t>Kevin da Silva </a:t>
            </a:r>
            <a:r>
              <a:rPr lang="en-US" dirty="0" err="1"/>
              <a:t>Castanheira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11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9104" y="1690688"/>
            <a:ext cx="5930900" cy="34798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computational model?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562599" cy="4351338"/>
          </a:xfrm>
        </p:spPr>
        <p:txBody>
          <a:bodyPr>
            <a:normAutofit/>
          </a:bodyPr>
          <a:lstStyle/>
          <a:p>
            <a:r>
              <a:rPr lang="en-US" dirty="0"/>
              <a:t>Model:</a:t>
            </a:r>
          </a:p>
          <a:p>
            <a:pPr lvl="1"/>
            <a:r>
              <a:rPr lang="en-US" dirty="0"/>
              <a:t>Some form of abstraction that represents reality</a:t>
            </a:r>
          </a:p>
          <a:p>
            <a:pPr lvl="1"/>
            <a:r>
              <a:rPr lang="en-US" dirty="0"/>
              <a:t>Help us understand reality</a:t>
            </a:r>
          </a:p>
          <a:p>
            <a:pPr lvl="1"/>
            <a:r>
              <a:rPr lang="en-US" dirty="0"/>
              <a:t>E.g. Bohr-Rutherford model</a:t>
            </a:r>
          </a:p>
          <a:p>
            <a:r>
              <a:rPr lang="en-US" dirty="0"/>
              <a:t>Computational:</a:t>
            </a:r>
          </a:p>
          <a:p>
            <a:pPr lvl="1"/>
            <a:r>
              <a:rPr lang="en-US" dirty="0"/>
              <a:t>Using a computer</a:t>
            </a:r>
          </a:p>
          <a:p>
            <a:pPr lvl="1"/>
            <a:r>
              <a:rPr lang="en-US" dirty="0"/>
              <a:t>Nothing special about computers</a:t>
            </a:r>
            <a:r>
              <a:rPr lang="is-IS" dirty="0"/>
              <a:t>… you could use toilet paper and stones (Searle, 1980)</a:t>
            </a:r>
          </a:p>
          <a:p>
            <a:pPr lvl="1"/>
            <a:r>
              <a:rPr lang="en-US" dirty="0"/>
              <a:t>C</a:t>
            </a:r>
            <a:r>
              <a:rPr lang="is-IS" dirty="0"/>
              <a:t>onvenience, accuracy, power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28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Computational Models?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Think of the brain like a machine</a:t>
            </a:r>
          </a:p>
          <a:p>
            <a:pPr lvl="1"/>
            <a:r>
              <a:rPr lang="en-US" dirty="0"/>
              <a:t>Sensory input &amp; motor output</a:t>
            </a:r>
          </a:p>
          <a:p>
            <a:r>
              <a:rPr lang="en-US" dirty="0"/>
              <a:t>If you knew the blueprints to the “brain machine” you could:</a:t>
            </a:r>
          </a:p>
          <a:p>
            <a:pPr lvl="1"/>
            <a:r>
              <a:rPr lang="en-US" dirty="0"/>
              <a:t>Take it apart and put it back together</a:t>
            </a:r>
          </a:p>
          <a:p>
            <a:pPr lvl="1"/>
            <a:r>
              <a:rPr lang="en-US" dirty="0"/>
              <a:t>Fix it when it’s broken</a:t>
            </a:r>
          </a:p>
          <a:p>
            <a:pPr lvl="1"/>
            <a:r>
              <a:rPr lang="en-US" dirty="0"/>
              <a:t>Predict what modifications will do to it</a:t>
            </a:r>
          </a:p>
          <a:p>
            <a:pPr lvl="1"/>
            <a:r>
              <a:rPr lang="en-US" dirty="0"/>
              <a:t>Predict what output you’d get for a given input</a:t>
            </a:r>
          </a:p>
          <a:p>
            <a:pPr lvl="1"/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31" y="1825625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69708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Brain/Machine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BUT we don’t have these blueprints!</a:t>
            </a:r>
          </a:p>
          <a:p>
            <a:r>
              <a:rPr lang="en-US" dirty="0"/>
              <a:t>The best we can do is construct models of how we think this machine works</a:t>
            </a:r>
          </a:p>
          <a:p>
            <a:r>
              <a:rPr lang="en-US" dirty="0"/>
              <a:t>You can try to understand the brain/machine at different levels</a:t>
            </a:r>
          </a:p>
          <a:p>
            <a:pPr lvl="1"/>
            <a:r>
              <a:rPr lang="en-US" dirty="0"/>
              <a:t>Knowing what the machine is doing</a:t>
            </a:r>
          </a:p>
          <a:p>
            <a:pPr lvl="1"/>
            <a:r>
              <a:rPr lang="en-US" dirty="0"/>
              <a:t>Knowing what operations the machine is doing</a:t>
            </a:r>
          </a:p>
          <a:p>
            <a:pPr lvl="1"/>
            <a:r>
              <a:rPr lang="en-US" dirty="0"/>
              <a:t>Knowing how the machine is carrying out those operations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11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Marr’s Three levels of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Computational</a:t>
            </a:r>
          </a:p>
          <a:p>
            <a:pPr lvl="1"/>
            <a:r>
              <a:rPr lang="en-US" dirty="0"/>
              <a:t>What is the goal of the computation, why is it appropriate, and what is the logic of the strategy by which it can be carried out?</a:t>
            </a:r>
          </a:p>
          <a:p>
            <a:r>
              <a:rPr lang="en-US" dirty="0"/>
              <a:t>Representational / Algorithmic</a:t>
            </a:r>
          </a:p>
          <a:p>
            <a:pPr lvl="1"/>
            <a:r>
              <a:rPr lang="en-US" dirty="0"/>
              <a:t>How can this computational theory be implemented? In particular, what is the representation of for the inputs and outputs, and what is the algorithm for the transformation?</a:t>
            </a:r>
          </a:p>
          <a:p>
            <a:r>
              <a:rPr lang="en-US" dirty="0"/>
              <a:t>Hardware Implementation</a:t>
            </a:r>
          </a:p>
          <a:p>
            <a:pPr lvl="1"/>
            <a:r>
              <a:rPr lang="en-US" dirty="0"/>
              <a:t>How can the representation and algorithm be realized physically?</a:t>
            </a:r>
          </a:p>
        </p:txBody>
      </p:sp>
    </p:spTree>
    <p:extLst>
      <p:ext uri="{BB962C8B-B14F-4D97-AF65-F5344CB8AC3E}">
        <p14:creationId xmlns:p14="http://schemas.microsoft.com/office/powerpoint/2010/main" val="496997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to making a Computational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Step 1:</a:t>
            </a:r>
            <a:r>
              <a:rPr lang="en-US" dirty="0"/>
              <a:t> Reformulate the conceptual framework in terms of rigorous mathematical or computer language (code) description</a:t>
            </a:r>
          </a:p>
          <a:p>
            <a:r>
              <a:rPr lang="en-US" b="1" dirty="0"/>
              <a:t>Step 2: </a:t>
            </a:r>
            <a:r>
              <a:rPr lang="en-US" dirty="0"/>
              <a:t>Make additional assumptions necessary not included in the conceptual framework (ad hoc assumptions)</a:t>
            </a:r>
          </a:p>
          <a:p>
            <a:r>
              <a:rPr lang="en-US" b="1" dirty="0"/>
              <a:t>Step 3:</a:t>
            </a:r>
            <a:r>
              <a:rPr lang="en-US" dirty="0"/>
              <a:t> Estimate values for the coefficients, parameters</a:t>
            </a:r>
          </a:p>
          <a:p>
            <a:r>
              <a:rPr lang="en-US" b="1" dirty="0"/>
              <a:t>Step 4: </a:t>
            </a:r>
            <a:r>
              <a:rPr lang="en-US" dirty="0"/>
              <a:t>Compare the predictions of your model to competing models. Which one produces results closets to the empirical data?</a:t>
            </a:r>
          </a:p>
          <a:p>
            <a:pPr lvl="1"/>
            <a:r>
              <a:rPr lang="en-US" dirty="0"/>
              <a:t>Design experiments to test opposing predictions of the models</a:t>
            </a:r>
          </a:p>
          <a:p>
            <a:r>
              <a:rPr lang="en-US" b="1" dirty="0"/>
              <a:t>Step 5: </a:t>
            </a:r>
            <a:r>
              <a:rPr lang="en-US" dirty="0"/>
              <a:t>Reformulate framework and start  all over again! 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214149-3E52-8B4F-933F-DCC38D2390F7}"/>
              </a:ext>
            </a:extLst>
          </p:cNvPr>
          <p:cNvSpPr txBox="1"/>
          <p:nvPr/>
        </p:nvSpPr>
        <p:spPr>
          <a:xfrm>
            <a:off x="3293533" y="6176963"/>
            <a:ext cx="8898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hlinkClick r:id="rId3"/>
              </a:rPr>
              <a:t>http://facweb.cti.depaul.edu/mobasher/classes/HON207/Readings/cognitive-modeling.pdf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188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A parameter is a variable which can take on a set of values</a:t>
                </a:r>
              </a:p>
              <a:p>
                <a:r>
                  <a:rPr lang="en-US" dirty="0"/>
                  <a:t>This parameter defines a </a:t>
                </a:r>
                <a:r>
                  <a:rPr lang="en-US" i="1" dirty="0"/>
                  <a:t>family</a:t>
                </a:r>
                <a:r>
                  <a:rPr lang="en-US" dirty="0"/>
                  <a:t> of functions</a:t>
                </a:r>
              </a:p>
              <a:p>
                <a:r>
                  <a:rPr lang="en-US" dirty="0"/>
                  <a:t>For example: a linear function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𝑦</m:t>
                    </m:r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r>
                      <a:rPr lang="en-US" b="0" i="1" smtClean="0">
                        <a:latin typeface="Cambria Math" charset="0"/>
                      </a:rPr>
                      <m:t>𝑎</m:t>
                    </m:r>
                    <m:r>
                      <a:rPr lang="en-US" b="0" i="1" smtClean="0">
                        <a:latin typeface="Cambria Math" charset="0"/>
                      </a:rPr>
                      <m:t>∗</m:t>
                    </m:r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latin typeface="Cambria Math" charset="0"/>
                      </a:rPr>
                      <m:t>𝑏</m:t>
                    </m:r>
                  </m:oMath>
                </a14:m>
                <a:r>
                  <a:rPr lang="en-US" dirty="0"/>
                  <a:t> has two parameters:</a:t>
                </a:r>
              </a:p>
              <a:p>
                <a:pPr lvl="1"/>
                <a:r>
                  <a:rPr lang="en-US" dirty="0"/>
                  <a:t>a the y-intercept</a:t>
                </a:r>
              </a:p>
              <a:p>
                <a:pPr lvl="1"/>
                <a:r>
                  <a:rPr lang="en-US" dirty="0"/>
                  <a:t>b the slope </a:t>
                </a:r>
              </a:p>
              <a:p>
                <a:r>
                  <a:rPr lang="en-US" dirty="0"/>
                  <a:t>The more you add the more “flexible” this line becomes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711" t="-2924" r="-2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8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778" y="1825625"/>
            <a:ext cx="4712444" cy="4351338"/>
          </a:xfr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85D7A5FF-3304-5345-9151-84052D2C1298}"/>
              </a:ext>
            </a:extLst>
          </p:cNvPr>
          <p:cNvSpPr/>
          <p:nvPr/>
        </p:nvSpPr>
        <p:spPr>
          <a:xfrm>
            <a:off x="7103534" y="2399902"/>
            <a:ext cx="3530600" cy="1528631"/>
          </a:xfrm>
          <a:custGeom>
            <a:avLst/>
            <a:gdLst>
              <a:gd name="connsiteX0" fmla="*/ 0 w 3996266"/>
              <a:gd name="connsiteY0" fmla="*/ 0 h 1778013"/>
              <a:gd name="connsiteX1" fmla="*/ 1921933 w 3996266"/>
              <a:gd name="connsiteY1" fmla="*/ 1778000 h 1778013"/>
              <a:gd name="connsiteX2" fmla="*/ 3996266 w 3996266"/>
              <a:gd name="connsiteY2" fmla="*/ 33866 h 1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96266" h="1778013">
                <a:moveTo>
                  <a:pt x="0" y="0"/>
                </a:moveTo>
                <a:cubicBezTo>
                  <a:pt x="627944" y="886178"/>
                  <a:pt x="1255889" y="1772356"/>
                  <a:pt x="1921933" y="1778000"/>
                </a:cubicBezTo>
                <a:cubicBezTo>
                  <a:pt x="2587977" y="1783644"/>
                  <a:pt x="3996266" y="33866"/>
                  <a:pt x="3996266" y="33866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6B71576-7214-024C-98AA-446C62AFC3E3}"/>
                  </a:ext>
                </a:extLst>
              </p:cNvPr>
              <p:cNvSpPr txBox="1"/>
              <p:nvPr/>
            </p:nvSpPr>
            <p:spPr>
              <a:xfrm>
                <a:off x="7103534" y="1105913"/>
                <a:ext cx="365999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3200" b="0" i="1" smtClean="0">
                          <a:latin typeface="Cambria Math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𝑐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𝑋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𝑎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charset="0"/>
                          <a:cs typeface="Cambria Math" charset="0"/>
                        </a:rPr>
                        <m:t>𝑏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6B71576-7214-024C-98AA-446C62AFC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534" y="1105913"/>
                <a:ext cx="36599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2815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&amp; Concerns 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365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Occam’s Razor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“Plurality should not be posited without necessity.”</a:t>
            </a:r>
          </a:p>
          <a:p>
            <a:r>
              <a:rPr lang="en-US" dirty="0"/>
              <a:t>Heuristic for the development of scientific models</a:t>
            </a:r>
          </a:p>
          <a:p>
            <a:pPr lvl="1"/>
            <a:r>
              <a:rPr lang="en-US" dirty="0"/>
              <a:t>Parsimonious</a:t>
            </a:r>
          </a:p>
          <a:p>
            <a:pPr lvl="1"/>
            <a:r>
              <a:rPr lang="en-US" dirty="0"/>
              <a:t>Falsifiable</a:t>
            </a:r>
          </a:p>
          <a:p>
            <a:pPr lvl="1"/>
            <a:r>
              <a:rPr lang="en-US" dirty="0"/>
              <a:t>Related to Overfitting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831" y="1825625"/>
            <a:ext cx="3268338" cy="4351338"/>
          </a:xfrm>
        </p:spPr>
      </p:pic>
    </p:spTree>
    <p:extLst>
      <p:ext uri="{BB962C8B-B14F-4D97-AF65-F5344CB8AC3E}">
        <p14:creationId xmlns:p14="http://schemas.microsoft.com/office/powerpoint/2010/main" val="742137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0791" y="1466008"/>
            <a:ext cx="5469021" cy="5391992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Overfitting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2188" y="1687251"/>
            <a:ext cx="4647624" cy="4351338"/>
          </a:xfrm>
        </p:spPr>
      </p:pic>
      <p:grpSp>
        <p:nvGrpSpPr>
          <p:cNvPr id="9" name="Group 8"/>
          <p:cNvGrpSpPr/>
          <p:nvPr/>
        </p:nvGrpSpPr>
        <p:grpSpPr>
          <a:xfrm>
            <a:off x="4241339" y="2399739"/>
            <a:ext cx="3274272" cy="3550596"/>
            <a:chOff x="4078779" y="2514885"/>
            <a:chExt cx="3274272" cy="3550596"/>
          </a:xfrm>
        </p:grpSpPr>
        <p:sp>
          <p:nvSpPr>
            <p:cNvPr id="8" name="Oval 7"/>
            <p:cNvSpPr/>
            <p:nvPr/>
          </p:nvSpPr>
          <p:spPr>
            <a:xfrm>
              <a:off x="4791627" y="251488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4602441" y="281443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>
              <a:off x="4579368" y="311397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>
              <a:off x="4500377" y="346607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4450371" y="365101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>
              <a:off x="4542582" y="393876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/>
            <p:cNvSpPr/>
            <p:nvPr/>
          </p:nvSpPr>
          <p:spPr>
            <a:xfrm>
              <a:off x="4642594" y="411530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335251" y="4924601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477798" y="502461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213972" y="501963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78779" y="5119648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/>
            <p:cNvSpPr/>
            <p:nvPr/>
          </p:nvSpPr>
          <p:spPr>
            <a:xfrm>
              <a:off x="4313984" y="524736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4450371" y="519013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4681762" y="5894329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/>
            <p:cNvSpPr/>
            <p:nvPr/>
          </p:nvSpPr>
          <p:spPr>
            <a:xfrm>
              <a:off x="4791627" y="5920717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/>
            <p:cNvSpPr/>
            <p:nvPr/>
          </p:nvSpPr>
          <p:spPr>
            <a:xfrm>
              <a:off x="5002164" y="594433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5559212" y="5894329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6383496" y="5965468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6640999" y="594647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6863828" y="582070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>
              <a:off x="6963840" y="563576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>
              <a:off x="7063852" y="527995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/>
            <p:cNvSpPr/>
            <p:nvPr/>
          </p:nvSpPr>
          <p:spPr>
            <a:xfrm>
              <a:off x="6913834" y="520709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/>
            <p:cNvSpPr/>
            <p:nvPr/>
          </p:nvSpPr>
          <p:spPr>
            <a:xfrm>
              <a:off x="7253039" y="509012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7110492" y="501963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6948013" y="494275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/>
            <p:cNvSpPr/>
            <p:nvPr/>
          </p:nvSpPr>
          <p:spPr>
            <a:xfrm>
              <a:off x="6835540" y="503961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6674226" y="411530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>
              <a:off x="6763816" y="380850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6785534" y="346607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/>
            <p:cNvSpPr/>
            <p:nvPr/>
          </p:nvSpPr>
          <p:spPr>
            <a:xfrm>
              <a:off x="6713810" y="312162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>
              <a:off x="6713810" y="277535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>
              <a:off x="6530041" y="251639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0" name="Straight Connector 19"/>
          <p:cNvCxnSpPr/>
          <p:nvPr/>
        </p:nvCxnSpPr>
        <p:spPr>
          <a:xfrm>
            <a:off x="4000500" y="4187039"/>
            <a:ext cx="4191000" cy="45330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000500" y="2670836"/>
            <a:ext cx="3996266" cy="2885957"/>
          </a:xfrm>
          <a:custGeom>
            <a:avLst/>
            <a:gdLst>
              <a:gd name="connsiteX0" fmla="*/ 0 w 3996266"/>
              <a:gd name="connsiteY0" fmla="*/ 0 h 1778013"/>
              <a:gd name="connsiteX1" fmla="*/ 1921933 w 3996266"/>
              <a:gd name="connsiteY1" fmla="*/ 1778000 h 1778013"/>
              <a:gd name="connsiteX2" fmla="*/ 3996266 w 3996266"/>
              <a:gd name="connsiteY2" fmla="*/ 33866 h 1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96266" h="1778013">
                <a:moveTo>
                  <a:pt x="0" y="0"/>
                </a:moveTo>
                <a:cubicBezTo>
                  <a:pt x="627944" y="886178"/>
                  <a:pt x="1255889" y="1772356"/>
                  <a:pt x="1921933" y="1778000"/>
                </a:cubicBezTo>
                <a:cubicBezTo>
                  <a:pt x="2587977" y="1783644"/>
                  <a:pt x="3996266" y="33866"/>
                  <a:pt x="3996266" y="33866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4276740" y="2429933"/>
            <a:ext cx="3200420" cy="3488021"/>
          </a:xfrm>
          <a:custGeom>
            <a:avLst/>
            <a:gdLst>
              <a:gd name="connsiteX0" fmla="*/ 2471193 w 3200420"/>
              <a:gd name="connsiteY0" fmla="*/ 0 h 3488021"/>
              <a:gd name="connsiteX1" fmla="*/ 2657460 w 3200420"/>
              <a:gd name="connsiteY1" fmla="*/ 287867 h 3488021"/>
              <a:gd name="connsiteX2" fmla="*/ 2657460 w 3200420"/>
              <a:gd name="connsiteY2" fmla="*/ 635000 h 3488021"/>
              <a:gd name="connsiteX3" fmla="*/ 2742127 w 3200420"/>
              <a:gd name="connsiteY3" fmla="*/ 965200 h 3488021"/>
              <a:gd name="connsiteX4" fmla="*/ 2699793 w 3200420"/>
              <a:gd name="connsiteY4" fmla="*/ 1320800 h 3488021"/>
              <a:gd name="connsiteX5" fmla="*/ 2589727 w 3200420"/>
              <a:gd name="connsiteY5" fmla="*/ 1608667 h 3488021"/>
              <a:gd name="connsiteX6" fmla="*/ 2759060 w 3200420"/>
              <a:gd name="connsiteY6" fmla="*/ 2548467 h 3488021"/>
              <a:gd name="connsiteX7" fmla="*/ 2869127 w 3200420"/>
              <a:gd name="connsiteY7" fmla="*/ 2463800 h 3488021"/>
              <a:gd name="connsiteX8" fmla="*/ 2860660 w 3200420"/>
              <a:gd name="connsiteY8" fmla="*/ 2726267 h 3488021"/>
              <a:gd name="connsiteX9" fmla="*/ 3038460 w 3200420"/>
              <a:gd name="connsiteY9" fmla="*/ 2514600 h 3488021"/>
              <a:gd name="connsiteX10" fmla="*/ 3004593 w 3200420"/>
              <a:gd name="connsiteY10" fmla="*/ 2794000 h 3488021"/>
              <a:gd name="connsiteX11" fmla="*/ 3199327 w 3200420"/>
              <a:gd name="connsiteY11" fmla="*/ 2582334 h 3488021"/>
              <a:gd name="connsiteX12" fmla="*/ 2902993 w 3200420"/>
              <a:gd name="connsiteY12" fmla="*/ 3158067 h 3488021"/>
              <a:gd name="connsiteX13" fmla="*/ 2809860 w 3200420"/>
              <a:gd name="connsiteY13" fmla="*/ 3361267 h 3488021"/>
              <a:gd name="connsiteX14" fmla="*/ 2581260 w 3200420"/>
              <a:gd name="connsiteY14" fmla="*/ 3471334 h 3488021"/>
              <a:gd name="connsiteX15" fmla="*/ 2318793 w 3200420"/>
              <a:gd name="connsiteY15" fmla="*/ 3479800 h 3488021"/>
              <a:gd name="connsiteX16" fmla="*/ 1522927 w 3200420"/>
              <a:gd name="connsiteY16" fmla="*/ 3395134 h 3488021"/>
              <a:gd name="connsiteX17" fmla="*/ 981060 w 3200420"/>
              <a:gd name="connsiteY17" fmla="*/ 3445934 h 3488021"/>
              <a:gd name="connsiteX18" fmla="*/ 743993 w 3200420"/>
              <a:gd name="connsiteY18" fmla="*/ 3445934 h 3488021"/>
              <a:gd name="connsiteX19" fmla="*/ 574660 w 3200420"/>
              <a:gd name="connsiteY19" fmla="*/ 3403600 h 3488021"/>
              <a:gd name="connsiteX20" fmla="*/ 7393 w 3200420"/>
              <a:gd name="connsiteY20" fmla="*/ 2641600 h 3488021"/>
              <a:gd name="connsiteX21" fmla="*/ 244460 w 3200420"/>
              <a:gd name="connsiteY21" fmla="*/ 2794000 h 3488021"/>
              <a:gd name="connsiteX22" fmla="*/ 142860 w 3200420"/>
              <a:gd name="connsiteY22" fmla="*/ 2506134 h 3488021"/>
              <a:gd name="connsiteX23" fmla="*/ 371460 w 3200420"/>
              <a:gd name="connsiteY23" fmla="*/ 2700867 h 3488021"/>
              <a:gd name="connsiteX24" fmla="*/ 244460 w 3200420"/>
              <a:gd name="connsiteY24" fmla="*/ 2396067 h 3488021"/>
              <a:gd name="connsiteX25" fmla="*/ 456127 w 3200420"/>
              <a:gd name="connsiteY25" fmla="*/ 2556934 h 3488021"/>
              <a:gd name="connsiteX26" fmla="*/ 583127 w 3200420"/>
              <a:gd name="connsiteY26" fmla="*/ 1625600 h 3488021"/>
              <a:gd name="connsiteX27" fmla="*/ 473060 w 3200420"/>
              <a:gd name="connsiteY27" fmla="*/ 1464734 h 3488021"/>
              <a:gd name="connsiteX28" fmla="*/ 388393 w 3200420"/>
              <a:gd name="connsiteY28" fmla="*/ 1185334 h 3488021"/>
              <a:gd name="connsiteX29" fmla="*/ 439193 w 3200420"/>
              <a:gd name="connsiteY29" fmla="*/ 965200 h 3488021"/>
              <a:gd name="connsiteX30" fmla="*/ 506927 w 3200420"/>
              <a:gd name="connsiteY30" fmla="*/ 660400 h 3488021"/>
              <a:gd name="connsiteX31" fmla="*/ 549260 w 3200420"/>
              <a:gd name="connsiteY31" fmla="*/ 355600 h 3488021"/>
              <a:gd name="connsiteX32" fmla="*/ 735527 w 3200420"/>
              <a:gd name="connsiteY32" fmla="*/ 33867 h 3488021"/>
              <a:gd name="connsiteX33" fmla="*/ 735527 w 3200420"/>
              <a:gd name="connsiteY33" fmla="*/ 33867 h 3488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00420" h="3488021">
                <a:moveTo>
                  <a:pt x="2471193" y="0"/>
                </a:moveTo>
                <a:cubicBezTo>
                  <a:pt x="2548804" y="91017"/>
                  <a:pt x="2626416" y="182034"/>
                  <a:pt x="2657460" y="287867"/>
                </a:cubicBezTo>
                <a:cubicBezTo>
                  <a:pt x="2688504" y="393700"/>
                  <a:pt x="2643349" y="522111"/>
                  <a:pt x="2657460" y="635000"/>
                </a:cubicBezTo>
                <a:cubicBezTo>
                  <a:pt x="2671571" y="747889"/>
                  <a:pt x="2735072" y="850900"/>
                  <a:pt x="2742127" y="965200"/>
                </a:cubicBezTo>
                <a:cubicBezTo>
                  <a:pt x="2749183" y="1079500"/>
                  <a:pt x="2725193" y="1213556"/>
                  <a:pt x="2699793" y="1320800"/>
                </a:cubicBezTo>
                <a:cubicBezTo>
                  <a:pt x="2674393" y="1428044"/>
                  <a:pt x="2579849" y="1404056"/>
                  <a:pt x="2589727" y="1608667"/>
                </a:cubicBezTo>
                <a:cubicBezTo>
                  <a:pt x="2599605" y="1813278"/>
                  <a:pt x="2712493" y="2405945"/>
                  <a:pt x="2759060" y="2548467"/>
                </a:cubicBezTo>
                <a:cubicBezTo>
                  <a:pt x="2805627" y="2690989"/>
                  <a:pt x="2852194" y="2434167"/>
                  <a:pt x="2869127" y="2463800"/>
                </a:cubicBezTo>
                <a:cubicBezTo>
                  <a:pt x="2886060" y="2493433"/>
                  <a:pt x="2832438" y="2717800"/>
                  <a:pt x="2860660" y="2726267"/>
                </a:cubicBezTo>
                <a:cubicBezTo>
                  <a:pt x="2888882" y="2734734"/>
                  <a:pt x="3014471" y="2503311"/>
                  <a:pt x="3038460" y="2514600"/>
                </a:cubicBezTo>
                <a:cubicBezTo>
                  <a:pt x="3062449" y="2525889"/>
                  <a:pt x="2977782" y="2782711"/>
                  <a:pt x="3004593" y="2794000"/>
                </a:cubicBezTo>
                <a:cubicBezTo>
                  <a:pt x="3031404" y="2805289"/>
                  <a:pt x="3216260" y="2521656"/>
                  <a:pt x="3199327" y="2582334"/>
                </a:cubicBezTo>
                <a:cubicBezTo>
                  <a:pt x="3182394" y="2643012"/>
                  <a:pt x="2967904" y="3028245"/>
                  <a:pt x="2902993" y="3158067"/>
                </a:cubicBezTo>
                <a:cubicBezTo>
                  <a:pt x="2838082" y="3287889"/>
                  <a:pt x="2863482" y="3309056"/>
                  <a:pt x="2809860" y="3361267"/>
                </a:cubicBezTo>
                <a:cubicBezTo>
                  <a:pt x="2756238" y="3413478"/>
                  <a:pt x="2663105" y="3451578"/>
                  <a:pt x="2581260" y="3471334"/>
                </a:cubicBezTo>
                <a:cubicBezTo>
                  <a:pt x="2499415" y="3491090"/>
                  <a:pt x="2495182" y="3492500"/>
                  <a:pt x="2318793" y="3479800"/>
                </a:cubicBezTo>
                <a:cubicBezTo>
                  <a:pt x="2142404" y="3467100"/>
                  <a:pt x="1745882" y="3400778"/>
                  <a:pt x="1522927" y="3395134"/>
                </a:cubicBezTo>
                <a:cubicBezTo>
                  <a:pt x="1299972" y="3389490"/>
                  <a:pt x="1110882" y="3437467"/>
                  <a:pt x="981060" y="3445934"/>
                </a:cubicBezTo>
                <a:cubicBezTo>
                  <a:pt x="851238" y="3454401"/>
                  <a:pt x="811726" y="3452990"/>
                  <a:pt x="743993" y="3445934"/>
                </a:cubicBezTo>
                <a:cubicBezTo>
                  <a:pt x="676260" y="3438878"/>
                  <a:pt x="697427" y="3537656"/>
                  <a:pt x="574660" y="3403600"/>
                </a:cubicBezTo>
                <a:cubicBezTo>
                  <a:pt x="451893" y="3269544"/>
                  <a:pt x="62426" y="2743200"/>
                  <a:pt x="7393" y="2641600"/>
                </a:cubicBezTo>
                <a:cubicBezTo>
                  <a:pt x="-47640" y="2540000"/>
                  <a:pt x="221882" y="2816578"/>
                  <a:pt x="244460" y="2794000"/>
                </a:cubicBezTo>
                <a:cubicBezTo>
                  <a:pt x="267038" y="2771422"/>
                  <a:pt x="121693" y="2521656"/>
                  <a:pt x="142860" y="2506134"/>
                </a:cubicBezTo>
                <a:cubicBezTo>
                  <a:pt x="164027" y="2490612"/>
                  <a:pt x="354527" y="2719211"/>
                  <a:pt x="371460" y="2700867"/>
                </a:cubicBezTo>
                <a:cubicBezTo>
                  <a:pt x="388393" y="2682523"/>
                  <a:pt x="230349" y="2420056"/>
                  <a:pt x="244460" y="2396067"/>
                </a:cubicBezTo>
                <a:cubicBezTo>
                  <a:pt x="258571" y="2372078"/>
                  <a:pt x="399683" y="2685345"/>
                  <a:pt x="456127" y="2556934"/>
                </a:cubicBezTo>
                <a:cubicBezTo>
                  <a:pt x="512571" y="2428523"/>
                  <a:pt x="580305" y="1807633"/>
                  <a:pt x="583127" y="1625600"/>
                </a:cubicBezTo>
                <a:cubicBezTo>
                  <a:pt x="585949" y="1443567"/>
                  <a:pt x="505516" y="1538112"/>
                  <a:pt x="473060" y="1464734"/>
                </a:cubicBezTo>
                <a:cubicBezTo>
                  <a:pt x="440604" y="1391356"/>
                  <a:pt x="394037" y="1268590"/>
                  <a:pt x="388393" y="1185334"/>
                </a:cubicBezTo>
                <a:cubicBezTo>
                  <a:pt x="382749" y="1102078"/>
                  <a:pt x="419437" y="1052689"/>
                  <a:pt x="439193" y="965200"/>
                </a:cubicBezTo>
                <a:cubicBezTo>
                  <a:pt x="458949" y="877711"/>
                  <a:pt x="488583" y="762000"/>
                  <a:pt x="506927" y="660400"/>
                </a:cubicBezTo>
                <a:cubicBezTo>
                  <a:pt x="525271" y="558800"/>
                  <a:pt x="511160" y="460022"/>
                  <a:pt x="549260" y="355600"/>
                </a:cubicBezTo>
                <a:cubicBezTo>
                  <a:pt x="587360" y="251178"/>
                  <a:pt x="735527" y="33867"/>
                  <a:pt x="735527" y="33867"/>
                </a:cubicBezTo>
                <a:lnTo>
                  <a:pt x="735527" y="33867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9" name="Group 78"/>
          <p:cNvGrpSpPr/>
          <p:nvPr/>
        </p:nvGrpSpPr>
        <p:grpSpPr>
          <a:xfrm>
            <a:off x="4206541" y="2804115"/>
            <a:ext cx="3646871" cy="2796302"/>
            <a:chOff x="4206541" y="2804115"/>
            <a:chExt cx="3646871" cy="2796302"/>
          </a:xfrm>
        </p:grpSpPr>
        <p:sp>
          <p:nvSpPr>
            <p:cNvPr id="64" name="Oval 63"/>
            <p:cNvSpPr/>
            <p:nvPr/>
          </p:nvSpPr>
          <p:spPr>
            <a:xfrm>
              <a:off x="4206541" y="2904128"/>
              <a:ext cx="100012" cy="100013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8" name="Group 77"/>
            <p:cNvGrpSpPr/>
            <p:nvPr/>
          </p:nvGrpSpPr>
          <p:grpSpPr>
            <a:xfrm>
              <a:off x="4340923" y="2804115"/>
              <a:ext cx="3512489" cy="2796302"/>
              <a:chOff x="4340923" y="2804115"/>
              <a:chExt cx="3512489" cy="2796302"/>
            </a:xfrm>
          </p:grpSpPr>
          <p:sp>
            <p:nvSpPr>
              <p:cNvPr id="65" name="Oval 64"/>
              <p:cNvSpPr/>
              <p:nvPr/>
            </p:nvSpPr>
            <p:spPr>
              <a:xfrm>
                <a:off x="4340923" y="3807890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/>
              <p:cNvSpPr/>
              <p:nvPr/>
            </p:nvSpPr>
            <p:spPr>
              <a:xfrm>
                <a:off x="5363103" y="4984013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/>
              <p:cNvSpPr/>
              <p:nvPr/>
            </p:nvSpPr>
            <p:spPr>
              <a:xfrm>
                <a:off x="6306914" y="543869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5463115" y="5500404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/>
              <p:cNvSpPr/>
              <p:nvPr/>
            </p:nvSpPr>
            <p:spPr>
              <a:xfrm>
                <a:off x="6607805" y="4802565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7165953" y="429539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/>
              <p:cNvSpPr/>
              <p:nvPr/>
            </p:nvSpPr>
            <p:spPr>
              <a:xfrm>
                <a:off x="7315587" y="3646959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/>
              <p:cNvSpPr/>
              <p:nvPr/>
            </p:nvSpPr>
            <p:spPr>
              <a:xfrm>
                <a:off x="7706246" y="3388696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/>
              <p:cNvSpPr/>
              <p:nvPr/>
            </p:nvSpPr>
            <p:spPr>
              <a:xfrm>
                <a:off x="4715412" y="4508388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/>
              <p:cNvSpPr/>
              <p:nvPr/>
            </p:nvSpPr>
            <p:spPr>
              <a:xfrm>
                <a:off x="7753400" y="2804115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/>
              <p:cNvSpPr/>
              <p:nvPr/>
            </p:nvSpPr>
            <p:spPr>
              <a:xfrm>
                <a:off x="6976382" y="5382858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/>
              <p:cNvSpPr/>
              <p:nvPr/>
            </p:nvSpPr>
            <p:spPr>
              <a:xfrm>
                <a:off x="4740370" y="533285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/>
              <p:cNvSpPr/>
              <p:nvPr/>
            </p:nvSpPr>
            <p:spPr>
              <a:xfrm>
                <a:off x="4397799" y="4495953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8827665" y="2766151"/>
                <a:ext cx="3253154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3200" b="0" i="1" smtClean="0">
                          <a:latin typeface="Cambria Math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7665" y="2766151"/>
                <a:ext cx="3253154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8420826" y="3223115"/>
                <a:ext cx="365999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3200" b="0" i="1" smtClean="0">
                          <a:latin typeface="Cambria Math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𝑋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𝛾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0826" y="3223115"/>
                <a:ext cx="3659993" cy="58477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/>
              <p:cNvSpPr txBox="1"/>
              <p:nvPr/>
            </p:nvSpPr>
            <p:spPr>
              <a:xfrm>
                <a:off x="8370001" y="3735022"/>
                <a:ext cx="3821795" cy="737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1600" b="0" i="1" smtClean="0">
                          <a:latin typeface="Cambria Math" charset="0"/>
                        </a:rPr>
                        <m:t>=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𝛾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f>
                        <m:fPr>
                          <m:ctrlPr>
                            <a:rPr lang="bg-BG" sz="16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𝜉</m:t>
                          </m:r>
                          <m:func>
                            <m:func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𝜏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  <a:ea typeface="Cambria Math" charset="0"/>
                                          <a:cs typeface="Cambria Math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  <a:ea typeface="Cambria Math" charset="0"/>
                                              <a:cs typeface="Cambria Math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sz="1600" b="0" i="1" smtClean="0">
                                              <a:latin typeface="Cambria Math" charset="0"/>
                                              <a:ea typeface="Cambria Math" charset="0"/>
                                              <a:cs typeface="Cambria Math" charset="0"/>
                                            </a:rPr>
                                            <m:t>𝑋</m:t>
                                          </m:r>
                                        </m:e>
                                      </m:rad>
                                      <m:r>
                                        <a:rPr lang="en-US" sz="1600" b="0" i="1" smtClean="0">
                                          <a:latin typeface="Cambria Math" charset="0"/>
                                          <a:ea typeface="Cambria Math" charset="0"/>
                                          <a:cs typeface="Cambria Math" charset="0"/>
                                        </a:rPr>
                                        <m:t>−</m:t>
                                      </m:r>
                                      <m:r>
                                        <a:rPr lang="en-US" sz="1600" b="0" i="1" smtClean="0">
                                          <a:latin typeface="Cambria Math" charset="0"/>
                                          <a:ea typeface="Cambria Math" charset="0"/>
                                          <a:cs typeface="Cambria Math" charset="0"/>
                                        </a:rPr>
                                        <m:t>𝜑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rad>
                            <m:radPr>
                              <m:ctrlPr>
                                <a:rPr lang="uk-UA" sz="1600" b="0" i="1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radPr>
                            <m:deg>
                              <m:r>
                                <m:rPr>
                                  <m:brk m:alnAt="7"/>
                                </m:rPr>
                                <a:rPr lang="en-US" sz="1600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uk-UA" sz="1600" b="0" i="1" smtClean="0"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−</m:t>
                                  </m:r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𝜔</m:t>
                                  </m:r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𝑋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 +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2" name="Text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0001" y="3735022"/>
                <a:ext cx="3821795" cy="737061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Freeform 82">
            <a:extLst>
              <a:ext uri="{FF2B5EF4-FFF2-40B4-BE49-F238E27FC236}">
                <a16:creationId xmlns:a16="http://schemas.microsoft.com/office/drawing/2014/main" id="{79AA6D6A-2FD5-424D-9385-52AB0D51E4E4}"/>
              </a:ext>
            </a:extLst>
          </p:cNvPr>
          <p:cNvSpPr/>
          <p:nvPr/>
        </p:nvSpPr>
        <p:spPr>
          <a:xfrm>
            <a:off x="4379678" y="2640669"/>
            <a:ext cx="3034907" cy="3099031"/>
          </a:xfrm>
          <a:custGeom>
            <a:avLst/>
            <a:gdLst>
              <a:gd name="connsiteX0" fmla="*/ 0 w 3996266"/>
              <a:gd name="connsiteY0" fmla="*/ 0 h 1778013"/>
              <a:gd name="connsiteX1" fmla="*/ 1921933 w 3996266"/>
              <a:gd name="connsiteY1" fmla="*/ 1778000 h 1778013"/>
              <a:gd name="connsiteX2" fmla="*/ 3996266 w 3996266"/>
              <a:gd name="connsiteY2" fmla="*/ 33866 h 1778013"/>
              <a:gd name="connsiteX0" fmla="*/ 0 w 3585206"/>
              <a:gd name="connsiteY0" fmla="*/ 0 h 1763589"/>
              <a:gd name="connsiteX1" fmla="*/ 1510873 w 3585206"/>
              <a:gd name="connsiteY1" fmla="*/ 1763576 h 1763589"/>
              <a:gd name="connsiteX2" fmla="*/ 3585206 w 3585206"/>
              <a:gd name="connsiteY2" fmla="*/ 19442 h 1763589"/>
              <a:gd name="connsiteX0" fmla="*/ 0 w 3585206"/>
              <a:gd name="connsiteY0" fmla="*/ 0 h 1763589"/>
              <a:gd name="connsiteX1" fmla="*/ 1510873 w 3585206"/>
              <a:gd name="connsiteY1" fmla="*/ 1763576 h 1763589"/>
              <a:gd name="connsiteX2" fmla="*/ 3585206 w 3585206"/>
              <a:gd name="connsiteY2" fmla="*/ 19442 h 1763589"/>
              <a:gd name="connsiteX0" fmla="*/ 0 w 2972810"/>
              <a:gd name="connsiteY0" fmla="*/ 0 h 1763589"/>
              <a:gd name="connsiteX1" fmla="*/ 1510873 w 2972810"/>
              <a:gd name="connsiteY1" fmla="*/ 1763576 h 1763589"/>
              <a:gd name="connsiteX2" fmla="*/ 2972810 w 2972810"/>
              <a:gd name="connsiteY2" fmla="*/ 24250 h 1763589"/>
              <a:gd name="connsiteX0" fmla="*/ 0 w 2964421"/>
              <a:gd name="connsiteY0" fmla="*/ 0 h 1763589"/>
              <a:gd name="connsiteX1" fmla="*/ 1510873 w 2964421"/>
              <a:gd name="connsiteY1" fmla="*/ 1763576 h 1763589"/>
              <a:gd name="connsiteX2" fmla="*/ 2964421 w 2964421"/>
              <a:gd name="connsiteY2" fmla="*/ 48289 h 1763589"/>
              <a:gd name="connsiteX0" fmla="*/ 0 w 2956032"/>
              <a:gd name="connsiteY0" fmla="*/ 0 h 1763589"/>
              <a:gd name="connsiteX1" fmla="*/ 1510873 w 2956032"/>
              <a:gd name="connsiteY1" fmla="*/ 1763576 h 1763589"/>
              <a:gd name="connsiteX2" fmla="*/ 2956032 w 2956032"/>
              <a:gd name="connsiteY2" fmla="*/ 14634 h 1763589"/>
              <a:gd name="connsiteX0" fmla="*/ 0 w 2956032"/>
              <a:gd name="connsiteY0" fmla="*/ 0 h 1768397"/>
              <a:gd name="connsiteX1" fmla="*/ 1393427 w 2956032"/>
              <a:gd name="connsiteY1" fmla="*/ 1768384 h 1768397"/>
              <a:gd name="connsiteX2" fmla="*/ 2956032 w 2956032"/>
              <a:gd name="connsiteY2" fmla="*/ 14634 h 1768397"/>
              <a:gd name="connsiteX0" fmla="*/ 0 w 2956032"/>
              <a:gd name="connsiteY0" fmla="*/ 0 h 1770249"/>
              <a:gd name="connsiteX1" fmla="*/ 1393427 w 2956032"/>
              <a:gd name="connsiteY1" fmla="*/ 1768384 h 1770249"/>
              <a:gd name="connsiteX2" fmla="*/ 2956032 w 2956032"/>
              <a:gd name="connsiteY2" fmla="*/ 14634 h 1770249"/>
              <a:gd name="connsiteX0" fmla="*/ 0 w 2956032"/>
              <a:gd name="connsiteY0" fmla="*/ 0 h 1770249"/>
              <a:gd name="connsiteX1" fmla="*/ 1393427 w 2956032"/>
              <a:gd name="connsiteY1" fmla="*/ 1768384 h 1770249"/>
              <a:gd name="connsiteX2" fmla="*/ 2956032 w 2956032"/>
              <a:gd name="connsiteY2" fmla="*/ 14634 h 1770249"/>
              <a:gd name="connsiteX0" fmla="*/ 0 w 2956032"/>
              <a:gd name="connsiteY0" fmla="*/ 0 h 1784210"/>
              <a:gd name="connsiteX1" fmla="*/ 1303537 w 2956032"/>
              <a:gd name="connsiteY1" fmla="*/ 1782359 h 1784210"/>
              <a:gd name="connsiteX2" fmla="*/ 2956032 w 2956032"/>
              <a:gd name="connsiteY2" fmla="*/ 14634 h 1784210"/>
              <a:gd name="connsiteX0" fmla="*/ 0 w 2956032"/>
              <a:gd name="connsiteY0" fmla="*/ 0 h 1679507"/>
              <a:gd name="connsiteX1" fmla="*/ 1472082 w 2956032"/>
              <a:gd name="connsiteY1" fmla="*/ 1677547 h 1679507"/>
              <a:gd name="connsiteX2" fmla="*/ 2956032 w 2956032"/>
              <a:gd name="connsiteY2" fmla="*/ 14634 h 1679507"/>
              <a:gd name="connsiteX0" fmla="*/ 0 w 2956032"/>
              <a:gd name="connsiteY0" fmla="*/ 0 h 1694676"/>
              <a:gd name="connsiteX1" fmla="*/ 1472082 w 2956032"/>
              <a:gd name="connsiteY1" fmla="*/ 1677547 h 1694676"/>
              <a:gd name="connsiteX2" fmla="*/ 2956032 w 2956032"/>
              <a:gd name="connsiteY2" fmla="*/ 14634 h 1694676"/>
              <a:gd name="connsiteX0" fmla="*/ 0 w 2956032"/>
              <a:gd name="connsiteY0" fmla="*/ 0 h 1694676"/>
              <a:gd name="connsiteX1" fmla="*/ 1472082 w 2956032"/>
              <a:gd name="connsiteY1" fmla="*/ 1677547 h 1694676"/>
              <a:gd name="connsiteX2" fmla="*/ 2956032 w 2956032"/>
              <a:gd name="connsiteY2" fmla="*/ 14634 h 1694676"/>
              <a:gd name="connsiteX0" fmla="*/ 0 w 2956032"/>
              <a:gd name="connsiteY0" fmla="*/ 0 h 1750115"/>
              <a:gd name="connsiteX1" fmla="*/ 1472082 w 2956032"/>
              <a:gd name="connsiteY1" fmla="*/ 1733447 h 1750115"/>
              <a:gd name="connsiteX2" fmla="*/ 2956032 w 2956032"/>
              <a:gd name="connsiteY2" fmla="*/ 14634 h 1750115"/>
              <a:gd name="connsiteX0" fmla="*/ 0 w 2956032"/>
              <a:gd name="connsiteY0" fmla="*/ 0 h 1742773"/>
              <a:gd name="connsiteX1" fmla="*/ 1472082 w 2956032"/>
              <a:gd name="connsiteY1" fmla="*/ 1733447 h 1742773"/>
              <a:gd name="connsiteX2" fmla="*/ 2956032 w 2956032"/>
              <a:gd name="connsiteY2" fmla="*/ 14634 h 1742773"/>
              <a:gd name="connsiteX0" fmla="*/ 0 w 2956032"/>
              <a:gd name="connsiteY0" fmla="*/ 0 h 1734375"/>
              <a:gd name="connsiteX1" fmla="*/ 1472082 w 2956032"/>
              <a:gd name="connsiteY1" fmla="*/ 1733447 h 1734375"/>
              <a:gd name="connsiteX2" fmla="*/ 2956032 w 2956032"/>
              <a:gd name="connsiteY2" fmla="*/ 14634 h 1734375"/>
              <a:gd name="connsiteX0" fmla="*/ 0 w 2956032"/>
              <a:gd name="connsiteY0" fmla="*/ 0 h 1733635"/>
              <a:gd name="connsiteX1" fmla="*/ 1472082 w 2956032"/>
              <a:gd name="connsiteY1" fmla="*/ 1733447 h 1733635"/>
              <a:gd name="connsiteX2" fmla="*/ 2956032 w 2956032"/>
              <a:gd name="connsiteY2" fmla="*/ 14634 h 1733635"/>
              <a:gd name="connsiteX0" fmla="*/ 0 w 2956032"/>
              <a:gd name="connsiteY0" fmla="*/ 0 h 1734125"/>
              <a:gd name="connsiteX1" fmla="*/ 1472082 w 2956032"/>
              <a:gd name="connsiteY1" fmla="*/ 1733447 h 1734125"/>
              <a:gd name="connsiteX2" fmla="*/ 2956032 w 2956032"/>
              <a:gd name="connsiteY2" fmla="*/ 14634 h 1734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6032" h="1734125">
                <a:moveTo>
                  <a:pt x="0" y="0"/>
                </a:moveTo>
                <a:cubicBezTo>
                  <a:pt x="250439" y="924641"/>
                  <a:pt x="269848" y="1747932"/>
                  <a:pt x="1472082" y="1733447"/>
                </a:cubicBezTo>
                <a:cubicBezTo>
                  <a:pt x="2929291" y="1773643"/>
                  <a:pt x="2956032" y="14634"/>
                  <a:pt x="2956032" y="14634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272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61" grpId="1" animBg="1"/>
      <p:bldP spid="63" grpId="0" animBg="1"/>
      <p:bldP spid="63" grpId="1" animBg="1"/>
      <p:bldP spid="80" grpId="0"/>
      <p:bldP spid="80" grpId="1"/>
      <p:bldP spid="81" grpId="0"/>
      <p:bldP spid="81" grpId="1"/>
      <p:bldP spid="82" grpId="0"/>
      <p:bldP spid="82" grpId="1"/>
      <p:bldP spid="8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B47DC4-F89F-BF40-8F77-CC9CC9E7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Overfitting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CA4976-C2A9-A846-831C-0BD63E98A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more data and see if your model still fits</a:t>
            </a:r>
          </a:p>
          <a:p>
            <a:r>
              <a:rPr lang="en-US" dirty="0"/>
              <a:t>Have a model selection criteria which punishes free parameters</a:t>
            </a:r>
          </a:p>
          <a:p>
            <a:pPr lvl="1"/>
            <a:r>
              <a:rPr lang="en-US" dirty="0"/>
              <a:t>Remember that models with more parameters are more “flexible” and can fit data better not because they’re theoretically explaining some phenomenon but because they’re being influenced by the </a:t>
            </a:r>
            <a:r>
              <a:rPr lang="en-US" b="1" dirty="0"/>
              <a:t>noise</a:t>
            </a:r>
          </a:p>
        </p:txBody>
      </p:sp>
    </p:spTree>
    <p:extLst>
      <p:ext uri="{BB962C8B-B14F-4D97-AF65-F5344CB8AC3E}">
        <p14:creationId xmlns:p14="http://schemas.microsoft.com/office/powerpoint/2010/main" val="1617372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 Theory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Normative Model of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1440660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St. Petersburg Paradox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How much would you pay to play the following game?</a:t>
            </a:r>
          </a:p>
          <a:p>
            <a:r>
              <a:rPr lang="en-US" dirty="0"/>
              <a:t>I flip a coin an indefinite number of times. If it’s heads you win, if tails you lose. With every flip of the coin, I double the pot.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061" y="1947893"/>
            <a:ext cx="5475736" cy="4106802"/>
          </a:xfr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/>
              </p:nvPr>
            </p:nvGraphicFramePr>
            <p:xfrm>
              <a:off x="838200" y="4805363"/>
              <a:ext cx="5181600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863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charset="0"/>
                                    </a:rPr>
                                    <m:t>𝑛</m:t>
                                  </m:r>
                                </m:sup>
                              </m:sSup>
                            </m:oMath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$$$$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0215198"/>
                  </p:ext>
                </p:extLst>
              </p:nvPr>
            </p:nvGraphicFramePr>
            <p:xfrm>
              <a:off x="838200" y="4805363"/>
              <a:ext cx="5181600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863600"/>
                    <a:gridCol w="863600"/>
                    <a:gridCol w="863600"/>
                    <a:gridCol w="863600"/>
                    <a:gridCol w="863600"/>
                    <a:gridCol w="863600"/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$2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$4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$8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00000" t="-10667" r="-1408" b="-230667"/>
                          </a:stretch>
                        </a:blipFill>
                      </a:tcPr>
                    </a:tc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total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$2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$6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$14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$$$$</a:t>
                          </a:r>
                          <a:endParaRPr lang="en-US" sz="2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5979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St. Petersburg Paradox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average expect earnings of a player is infinite!!!</a:t>
            </a:r>
          </a:p>
          <a:p>
            <a:r>
              <a:rPr lang="en-US" dirty="0"/>
              <a:t>BUT people are only willing to pay ~ $1 - $2 to play</a:t>
            </a:r>
          </a:p>
          <a:p>
            <a:r>
              <a:rPr lang="en-US" dirty="0"/>
              <a:t>Why?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061" y="1947893"/>
            <a:ext cx="5475736" cy="4106802"/>
          </a:xfrm>
        </p:spPr>
      </p:pic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C8DFEC0D-A9EB-C247-B8E8-00BECF56789A}"/>
              </a:ext>
            </a:extLst>
          </p:cNvPr>
          <p:cNvSpPr/>
          <p:nvPr/>
        </p:nvSpPr>
        <p:spPr>
          <a:xfrm flipH="1">
            <a:off x="7016259" y="1947892"/>
            <a:ext cx="1793631" cy="1576052"/>
          </a:xfrm>
          <a:prstGeom prst="wedgeRoundRectCallou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BD3C7B-9EE2-5540-BC54-8F5F8D2838DD}"/>
              </a:ext>
            </a:extLst>
          </p:cNvPr>
          <p:cNvSpPr txBox="1"/>
          <p:nvPr/>
        </p:nvSpPr>
        <p:spPr>
          <a:xfrm>
            <a:off x="7165730" y="2046616"/>
            <a:ext cx="14946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WOW! You’re on a roll, Cady! How much did you win?</a:t>
            </a:r>
          </a:p>
        </p:txBody>
      </p:sp>
      <p:sp>
        <p:nvSpPr>
          <p:cNvPr id="9" name="Rounded Rectangular Callout 8">
            <a:extLst>
              <a:ext uri="{FF2B5EF4-FFF2-40B4-BE49-F238E27FC236}">
                <a16:creationId xmlns:a16="http://schemas.microsoft.com/office/drawing/2014/main" id="{6B1DB1E5-B370-2946-B3AA-D5922F772A40}"/>
              </a:ext>
            </a:extLst>
          </p:cNvPr>
          <p:cNvSpPr/>
          <p:nvPr/>
        </p:nvSpPr>
        <p:spPr>
          <a:xfrm>
            <a:off x="9806349" y="2205098"/>
            <a:ext cx="1793631" cy="1318846"/>
          </a:xfrm>
          <a:prstGeom prst="wedgeRoundRectCallou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A17F3D-18CB-9F4A-9FFC-E8A8551D0FC6}"/>
              </a:ext>
            </a:extLst>
          </p:cNvPr>
          <p:cNvSpPr txBox="1"/>
          <p:nvPr/>
        </p:nvSpPr>
        <p:spPr>
          <a:xfrm>
            <a:off x="10075985" y="2444262"/>
            <a:ext cx="11367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limit does not exist!!</a:t>
            </a:r>
          </a:p>
        </p:txBody>
      </p:sp>
    </p:spTree>
    <p:extLst>
      <p:ext uri="{BB962C8B-B14F-4D97-AF65-F5344CB8AC3E}">
        <p14:creationId xmlns:p14="http://schemas.microsoft.com/office/powerpoint/2010/main" val="1517504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9" grpId="0" animBg="1"/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Utility?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Utility: Value, benefit, function, profit, use of something</a:t>
            </a:r>
          </a:p>
          <a:p>
            <a:pPr lvl="1"/>
            <a:r>
              <a:rPr lang="en-US" dirty="0"/>
              <a:t>Not absolute! (Context dependent)</a:t>
            </a:r>
          </a:p>
          <a:p>
            <a:r>
              <a:rPr lang="en-US" dirty="0"/>
              <a:t>Decisions are ultimately about comparing utility</a:t>
            </a:r>
          </a:p>
          <a:p>
            <a:r>
              <a:rPr lang="en-US" dirty="0"/>
              <a:t>The Expected Utility is the average Utility you expect to get if you made that choice many many times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74094"/>
            <a:ext cx="5181600" cy="34544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912580"/>
            <a:ext cx="1954602" cy="217742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2113" y="2912580"/>
            <a:ext cx="2434087" cy="2236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264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 Theory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Utility: the benefit from consuming a product </a:t>
            </a:r>
          </a:p>
          <a:p>
            <a:r>
              <a:rPr lang="en-US" dirty="0"/>
              <a:t>Diminishing </a:t>
            </a:r>
            <a:r>
              <a:rPr lang="en-US"/>
              <a:t>Marginal Utility:</a:t>
            </a:r>
            <a:endParaRPr lang="en-US" dirty="0"/>
          </a:p>
          <a:p>
            <a:pPr lvl="1"/>
            <a:r>
              <a:rPr lang="en-US" dirty="0"/>
              <a:t>$ 1,000,001 - $1 M &lt; $2 - $1</a:t>
            </a:r>
          </a:p>
          <a:p>
            <a:r>
              <a:rPr lang="en-US" dirty="0"/>
              <a:t>The value of a lottery can be calculated by multiplying the probability of winning to the SUBJECTIVE value (utility) gained</a:t>
            </a:r>
          </a:p>
          <a:p>
            <a:r>
              <a:rPr lang="en-US" dirty="0"/>
              <a:t>Choose the lottery with the highest expected utility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40" b="45829"/>
          <a:stretch/>
        </p:blipFill>
        <p:spPr>
          <a:xfrm>
            <a:off x="6172200" y="1690688"/>
            <a:ext cx="5451230" cy="3974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192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Expected Utility Theory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a normative model of decision-making (what you </a:t>
            </a:r>
            <a:r>
              <a:rPr lang="en-US" i="1" dirty="0"/>
              <a:t>ought</a:t>
            </a:r>
            <a:r>
              <a:rPr lang="en-US" dirty="0"/>
              <a:t> to do)</a:t>
            </a:r>
          </a:p>
          <a:p>
            <a:r>
              <a:rPr lang="en-US" dirty="0"/>
              <a:t>When observing how people act, there seems to be a few anomalies which cannot be explained by Expected Utility theory:</a:t>
            </a:r>
          </a:p>
          <a:p>
            <a:pPr lvl="1"/>
            <a:r>
              <a:rPr lang="en-US" dirty="0"/>
              <a:t>Framing Effects: Losses &amp; Gains are not psychologically equivalent</a:t>
            </a:r>
          </a:p>
          <a:p>
            <a:pPr lvl="1"/>
            <a:r>
              <a:rPr lang="en-US" dirty="0"/>
              <a:t>Probability Weighting: Humans do not treat probabilities objectively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685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Descriptive Model of Risk Preferences</a:t>
            </a:r>
          </a:p>
        </p:txBody>
      </p:sp>
    </p:spTree>
    <p:extLst>
      <p:ext uri="{BB962C8B-B14F-4D97-AF65-F5344CB8AC3E}">
        <p14:creationId xmlns:p14="http://schemas.microsoft.com/office/powerpoint/2010/main" val="6625895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Kahneman</a:t>
            </a:r>
            <a:r>
              <a:rPr lang="en-US" dirty="0"/>
              <a:t> &amp; </a:t>
            </a:r>
            <a:r>
              <a:rPr lang="en-US" dirty="0" err="1"/>
              <a:t>Tversky</a:t>
            </a:r>
            <a:r>
              <a:rPr lang="en-US" dirty="0"/>
              <a:t> 1979; 1992</a:t>
            </a:r>
          </a:p>
          <a:p>
            <a:r>
              <a:rPr lang="en-US" dirty="0"/>
              <a:t>Won the Nobel prize in Economics (2002)</a:t>
            </a:r>
          </a:p>
          <a:p>
            <a:r>
              <a:rPr lang="en-US" dirty="0"/>
              <a:t>Mathematical Descriptive Model of Human Choice</a:t>
            </a:r>
          </a:p>
          <a:p>
            <a:r>
              <a:rPr lang="en-US" dirty="0"/>
              <a:t>Contributions:</a:t>
            </a:r>
          </a:p>
          <a:p>
            <a:pPr lvl="1"/>
            <a:r>
              <a:rPr lang="en-US" dirty="0"/>
              <a:t>Shape of Utility Function (Framing)</a:t>
            </a:r>
          </a:p>
          <a:p>
            <a:pPr lvl="1"/>
            <a:r>
              <a:rPr lang="en-US" dirty="0"/>
              <a:t>Probability weighting</a:t>
            </a:r>
          </a:p>
        </p:txBody>
      </p:sp>
    </p:spTree>
    <p:extLst>
      <p:ext uri="{BB962C8B-B14F-4D97-AF65-F5344CB8AC3E}">
        <p14:creationId xmlns:p14="http://schemas.microsoft.com/office/powerpoint/2010/main" val="2130344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Fourfold Pattern of Risk Preferences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>
            <p:extLst/>
          </p:nvPr>
        </p:nvGraphicFramePr>
        <p:xfrm>
          <a:off x="1213338" y="1846262"/>
          <a:ext cx="10037253" cy="40269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42333">
                <a:tc>
                  <a:txBody>
                    <a:bodyPr/>
                    <a:lstStyle/>
                    <a:p>
                      <a:pPr algn="l"/>
                      <a:endParaRPr lang="en-US" sz="2800" dirty="0"/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Losses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Gains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High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Seeking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Averse</a:t>
                      </a:r>
                    </a:p>
                  </a:txBody>
                  <a:tcPr anchor="ctr">
                    <a:solidFill>
                      <a:srgbClr val="FFD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Low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Averse</a:t>
                      </a:r>
                    </a:p>
                  </a:txBody>
                  <a:tcPr anchor="ctr">
                    <a:solidFill>
                      <a:srgbClr val="FFD4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Seeking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0791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 flipH="1">
            <a:off x="6536366" y="3438942"/>
            <a:ext cx="773" cy="5323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7056755" y="2975082"/>
            <a:ext cx="1" cy="99617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577145" y="2573638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>
            <a:off x="6544429" y="3438942"/>
            <a:ext cx="773" cy="5323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7061567" y="2951863"/>
            <a:ext cx="1" cy="99617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H="1">
            <a:off x="7574513" y="2573638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>
            <a:off x="4973650" y="3971258"/>
            <a:ext cx="777" cy="215136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5319338" y="4003008"/>
            <a:ext cx="775" cy="161204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H="1">
            <a:off x="5665801" y="4003008"/>
            <a:ext cx="3717" cy="945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8832038" y="2149969"/>
            <a:ext cx="2116434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6279" y="411505"/>
            <a:ext cx="10515600" cy="1325563"/>
          </a:xfrm>
        </p:spPr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17" name="Freeform 16"/>
          <p:cNvSpPr/>
          <p:nvPr/>
        </p:nvSpPr>
        <p:spPr>
          <a:xfrm>
            <a:off x="6020789" y="2258375"/>
            <a:ext cx="2303814" cy="1731735"/>
          </a:xfrm>
          <a:custGeom>
            <a:avLst/>
            <a:gdLst>
              <a:gd name="connsiteX0" fmla="*/ 0 w 3408218"/>
              <a:gd name="connsiteY0" fmla="*/ 1199408 h 1199408"/>
              <a:gd name="connsiteX1" fmla="*/ 1401289 w 3408218"/>
              <a:gd name="connsiteY1" fmla="*/ 190005 h 1199408"/>
              <a:gd name="connsiteX2" fmla="*/ 3408218 w 3408218"/>
              <a:gd name="connsiteY2" fmla="*/ 0 h 1199408"/>
              <a:gd name="connsiteX0" fmla="*/ 0 w 2584064"/>
              <a:gd name="connsiteY0" fmla="*/ 1161168 h 1161168"/>
              <a:gd name="connsiteX1" fmla="*/ 1401289 w 2584064"/>
              <a:gd name="connsiteY1" fmla="*/ 151765 h 1161168"/>
              <a:gd name="connsiteX2" fmla="*/ 2584064 w 2584064"/>
              <a:gd name="connsiteY2" fmla="*/ 0 h 1161168"/>
              <a:gd name="connsiteX0" fmla="*/ 0 w 1871515"/>
              <a:gd name="connsiteY0" fmla="*/ 1122928 h 1122928"/>
              <a:gd name="connsiteX1" fmla="*/ 1401289 w 1871515"/>
              <a:gd name="connsiteY1" fmla="*/ 113525 h 1122928"/>
              <a:gd name="connsiteX2" fmla="*/ 1871515 w 1871515"/>
              <a:gd name="connsiteY2" fmla="*/ 0 h 1122928"/>
              <a:gd name="connsiteX0" fmla="*/ 0 w 1871515"/>
              <a:gd name="connsiteY0" fmla="*/ 1122928 h 1122928"/>
              <a:gd name="connsiteX1" fmla="*/ 757420 w 1871515"/>
              <a:gd name="connsiteY1" fmla="*/ 488277 h 1122928"/>
              <a:gd name="connsiteX2" fmla="*/ 1871515 w 1871515"/>
              <a:gd name="connsiteY2" fmla="*/ 0 h 1122928"/>
              <a:gd name="connsiteX0" fmla="*/ 0 w 1674062"/>
              <a:gd name="connsiteY0" fmla="*/ 1115280 h 1115280"/>
              <a:gd name="connsiteX1" fmla="*/ 757420 w 1674062"/>
              <a:gd name="connsiteY1" fmla="*/ 480629 h 1115280"/>
              <a:gd name="connsiteX2" fmla="*/ 1674062 w 1674062"/>
              <a:gd name="connsiteY2" fmla="*/ 0 h 1115280"/>
              <a:gd name="connsiteX0" fmla="*/ 0 w 1674062"/>
              <a:gd name="connsiteY0" fmla="*/ 1115280 h 1115280"/>
              <a:gd name="connsiteX1" fmla="*/ 671571 w 1674062"/>
              <a:gd name="connsiteY1" fmla="*/ 503573 h 1115280"/>
              <a:gd name="connsiteX2" fmla="*/ 1674062 w 1674062"/>
              <a:gd name="connsiteY2" fmla="*/ 0 h 1115280"/>
              <a:gd name="connsiteX0" fmla="*/ 0 w 1665477"/>
              <a:gd name="connsiteY0" fmla="*/ 1115280 h 1115280"/>
              <a:gd name="connsiteX1" fmla="*/ 662986 w 1665477"/>
              <a:gd name="connsiteY1" fmla="*/ 503573 h 1115280"/>
              <a:gd name="connsiteX2" fmla="*/ 1665477 w 1665477"/>
              <a:gd name="connsiteY2" fmla="*/ 0 h 1115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5477" h="1115280">
                <a:moveTo>
                  <a:pt x="0" y="1115280"/>
                </a:moveTo>
                <a:cubicBezTo>
                  <a:pt x="416626" y="710529"/>
                  <a:pt x="385407" y="689453"/>
                  <a:pt x="662986" y="503573"/>
                </a:cubicBezTo>
                <a:cubicBezTo>
                  <a:pt x="940566" y="317693"/>
                  <a:pt x="1350781" y="71252"/>
                  <a:pt x="1665477" y="0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3892823" y="3946662"/>
            <a:ext cx="2123154" cy="2727074"/>
          </a:xfrm>
          <a:custGeom>
            <a:avLst/>
            <a:gdLst>
              <a:gd name="connsiteX0" fmla="*/ 3301341 w 3301341"/>
              <a:gd name="connsiteY0" fmla="*/ 0 h 2805459"/>
              <a:gd name="connsiteX1" fmla="*/ 2090058 w 3301341"/>
              <a:gd name="connsiteY1" fmla="*/ 2398816 h 2805459"/>
              <a:gd name="connsiteX2" fmla="*/ 0 w 3301341"/>
              <a:gd name="connsiteY2" fmla="*/ 2802577 h 2805459"/>
              <a:gd name="connsiteX0" fmla="*/ 2229101 w 2229101"/>
              <a:gd name="connsiteY0" fmla="*/ 0 h 2794660"/>
              <a:gd name="connsiteX1" fmla="*/ 1017818 w 2229101"/>
              <a:gd name="connsiteY1" fmla="*/ 2398816 h 2794660"/>
              <a:gd name="connsiteX2" fmla="*/ 0 w 2229101"/>
              <a:gd name="connsiteY2" fmla="*/ 2790427 h 2794660"/>
              <a:gd name="connsiteX0" fmla="*/ 2229101 w 2229101"/>
              <a:gd name="connsiteY0" fmla="*/ 0 h 2790427"/>
              <a:gd name="connsiteX1" fmla="*/ 1142498 w 2229101"/>
              <a:gd name="connsiteY1" fmla="*/ 2265153 h 2790427"/>
              <a:gd name="connsiteX2" fmla="*/ 0 w 2229101"/>
              <a:gd name="connsiteY2" fmla="*/ 2790427 h 2790427"/>
              <a:gd name="connsiteX0" fmla="*/ 2229101 w 2229101"/>
              <a:gd name="connsiteY0" fmla="*/ 0 h 2790427"/>
              <a:gd name="connsiteX1" fmla="*/ 1217305 w 2229101"/>
              <a:gd name="connsiteY1" fmla="*/ 2289456 h 2790427"/>
              <a:gd name="connsiteX2" fmla="*/ 0 w 2229101"/>
              <a:gd name="connsiteY2" fmla="*/ 2790427 h 2790427"/>
              <a:gd name="connsiteX0" fmla="*/ 2229101 w 2229101"/>
              <a:gd name="connsiteY0" fmla="*/ 0 h 2790427"/>
              <a:gd name="connsiteX1" fmla="*/ 1292113 w 2229101"/>
              <a:gd name="connsiteY1" fmla="*/ 2070735 h 2790427"/>
              <a:gd name="connsiteX2" fmla="*/ 0 w 2229101"/>
              <a:gd name="connsiteY2" fmla="*/ 2790427 h 2790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29101" h="2790427">
                <a:moveTo>
                  <a:pt x="2229101" y="0"/>
                </a:moveTo>
                <a:cubicBezTo>
                  <a:pt x="1898571" y="965860"/>
                  <a:pt x="1663630" y="1605664"/>
                  <a:pt x="1292113" y="2070735"/>
                </a:cubicBezTo>
                <a:cubicBezTo>
                  <a:pt x="920596" y="2535806"/>
                  <a:pt x="0" y="2790427"/>
                  <a:pt x="0" y="2790427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 flipH="1">
            <a:off x="5985129" y="2005108"/>
            <a:ext cx="26246" cy="43242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3989754" y="3971258"/>
            <a:ext cx="4085467" cy="17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594333" y="1636941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Utility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039" y="3761996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Gains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30907" y="3761996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Losses</a:t>
            </a:r>
          </a:p>
        </p:txBody>
      </p:sp>
      <p:cxnSp>
        <p:nvCxnSpPr>
          <p:cNvPr id="88" name="Straight Connector 87"/>
          <p:cNvCxnSpPr/>
          <p:nvPr/>
        </p:nvCxnSpPr>
        <p:spPr>
          <a:xfrm flipH="1">
            <a:off x="7585674" y="2583534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1026279" y="2334615"/>
            <a:ext cx="777" cy="215136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1368638" y="2334615"/>
            <a:ext cx="775" cy="161204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1367865" y="3946662"/>
            <a:ext cx="3717" cy="945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566255" y="4485981"/>
            <a:ext cx="2116434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/>
              <p:cNvSpPr/>
              <p:nvPr/>
            </p:nvSpPr>
            <p:spPr>
              <a:xfrm>
                <a:off x="0" y="6294873"/>
                <a:ext cx="6871305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−</m:t>
                          </m:r>
                          <m:r>
                            <a:rPr lang="en-CA" sz="3200" i="1">
                              <a:latin typeface="Cambria Math" charset="0"/>
                            </a:rPr>
                            <m:t>6000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&gt;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−</m:t>
                          </m:r>
                          <m:r>
                            <a:rPr lang="en-CA" sz="3200" i="1">
                              <a:latin typeface="Cambria Math" charset="0"/>
                            </a:rPr>
                            <m:t>4000</m:t>
                          </m:r>
                        </m:e>
                      </m:d>
                      <m:r>
                        <a:rPr lang="en-CA" sz="3200" i="1">
                          <a:latin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r>
                        <a:rPr lang="en-CA" sz="3200" i="1">
                          <a:latin typeface="Cambria Math" charset="0"/>
                        </a:rPr>
                        <m:t>(−2000)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7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294873"/>
                <a:ext cx="6871305" cy="58477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6346010" y="5264793"/>
                <a:ext cx="5830058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b="0" i="1" smtClean="0">
                          <a:latin typeface="Cambria Math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6000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&lt;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4000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r>
                        <a:rPr lang="en-CA" sz="3200" b="0" i="1" smtClean="0">
                          <a:latin typeface="Cambria Math" charset="0"/>
                        </a:rPr>
                        <m:t>(2000)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6010" y="5264793"/>
                <a:ext cx="5830058" cy="492443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9757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65 0.00833 L 0.25026 -0.2092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39" y="-108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20768 -0.0592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378" y="-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2.22222E-6 L 0.22578 -0.0615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89" y="-30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Weighting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Probabilities are not treated objectively </a:t>
            </a:r>
            <a:r>
              <a:rPr lang="en-US" dirty="0">
                <a:sym typeface="Wingdings" pitchFamily="2" charset="2"/>
              </a:rPr>
              <a:t> weighted according to extremity</a:t>
            </a:r>
            <a:endParaRPr lang="en-US" dirty="0"/>
          </a:p>
          <a:p>
            <a:r>
              <a:rPr lang="en-US" dirty="0"/>
              <a:t>Extreme events tend to be rare</a:t>
            </a:r>
          </a:p>
          <a:p>
            <a:r>
              <a:rPr lang="en-US" dirty="0"/>
              <a:t>Related to availability: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What’s more common, dying in a car crash or dying of cancer?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Extremity of event related to perceived probability</a:t>
            </a:r>
          </a:p>
          <a:p>
            <a:pPr lvl="1"/>
            <a:r>
              <a:rPr lang="en-US" dirty="0"/>
              <a:t>Extreme events tend to be perceived as more common</a:t>
            </a:r>
          </a:p>
          <a:p>
            <a:pPr lvl="1"/>
            <a:r>
              <a:rPr lang="en-US" dirty="0"/>
              <a:t>Mundane events tend to be perceived as less common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8567" y="1825625"/>
            <a:ext cx="4648865" cy="4351338"/>
          </a:xfrm>
        </p:spPr>
      </p:pic>
    </p:spTree>
    <p:extLst>
      <p:ext uri="{BB962C8B-B14F-4D97-AF65-F5344CB8AC3E}">
        <p14:creationId xmlns:p14="http://schemas.microsoft.com/office/powerpoint/2010/main" val="74045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Compute the utility of each option</a:t>
                </a:r>
              </a:p>
              <a:p>
                <a:r>
                  <a:rPr lang="en-US" dirty="0"/>
                  <a:t>Compute the subjective probability of each outcome</a:t>
                </a:r>
              </a:p>
              <a:p>
                <a:r>
                  <a:rPr lang="en-US" dirty="0"/>
                  <a:t>Sum the products across outcomes for each prospect</a:t>
                </a:r>
              </a:p>
              <a:p>
                <a:r>
                  <a:rPr lang="en-US" dirty="0"/>
                  <a:t>Compare the two prospects: sign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r>
                  <a:rPr lang="en-US" dirty="0"/>
                  <a:t> will tell you what you should pick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3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/>
              <p:cNvGraphicFramePr>
                <a:graphicFrameLocks/>
              </p:cNvGraphicFramePr>
              <p:nvPr>
                <p:extLst/>
              </p:nvPr>
            </p:nvGraphicFramePr>
            <p:xfrm>
              <a:off x="6230153" y="2053506"/>
              <a:ext cx="5065694" cy="389557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53284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3284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A</a:t>
                          </a:r>
                        </a:p>
                      </a:txBody>
                      <a:tcPr anchor="ctr">
                        <a:lnB w="38100" cmpd="sng">
                          <a:noFill/>
                        </a:lnB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B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$1</a:t>
                          </a:r>
                          <a:r>
                            <a:rPr lang="en-US" sz="2800" b="0" baseline="0" dirty="0">
                              <a:solidFill>
                                <a:schemeClr val="tx1"/>
                              </a:solidFill>
                            </a:rPr>
                            <a:t>M</a:t>
                          </a: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 with 0.01%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/>
                            <a:t>$1 with 100%</a:t>
                          </a:r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$0 with 99.99%</a:t>
                          </a:r>
                        </a:p>
                      </a:txBody>
                      <a:tcPr anchor="ctr">
                        <a:lnT w="12700" cmpd="sng">
                          <a:noFill/>
                        </a:lnT>
                        <a:lnB w="12700" cmpd="sng">
                          <a:noFill/>
                        </a:lnB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0.01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</m:t>
                                    </m:r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𝑀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+ 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99.99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(0)</m:t>
                                </m:r>
                              </m:oMath>
                            </m:oMathPara>
                          </a14:m>
                          <a:endParaRPr lang="en-US" sz="2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T w="12700" cmpd="sng">
                          <a:noFill/>
                        </a:lnT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100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84345023"/>
                  </p:ext>
                </p:extLst>
              </p:nvPr>
            </p:nvGraphicFramePr>
            <p:xfrm>
              <a:off x="6230153" y="2053506"/>
              <a:ext cx="5065694" cy="389557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532847"/>
                    <a:gridCol w="2532847"/>
                  </a:tblGrid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A</a:t>
                          </a:r>
                          <a:endParaRPr lang="en-US" sz="2800" dirty="0"/>
                        </a:p>
                      </a:txBody>
                      <a:tcPr anchor="ctr">
                        <a:lnB w="38100" cmpd="sng">
                          <a:noFill/>
                        </a:lnB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B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$1</a:t>
                          </a:r>
                          <a:r>
                            <a:rPr lang="en-US" sz="2800" b="0" baseline="0" dirty="0" smtClean="0">
                              <a:solidFill>
                                <a:schemeClr val="tx1"/>
                              </a:solidFill>
                            </a:rPr>
                            <a:t>M</a:t>
                          </a:r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 with 0.01%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/>
                            <a:t>$1 with 100%</a:t>
                          </a:r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solidFill>
                          <a:srgbClr val="FFD4E0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$0 with 99.99%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T w="12700" cmpd="sng">
                          <a:noFill/>
                        </a:lnT>
                        <a:lnB w="12700" cmpd="sng">
                          <a:noFill/>
                        </a:lnB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T w="12700" cmpd="sng">
                          <a:noFill/>
                        </a:lnT>
                        <a:blipFill rotWithShape="0">
                          <a:blip r:embed="rId3"/>
                          <a:stretch>
                            <a:fillRect l="-481" t="-300625" r="-100962" b="-3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3"/>
                          <a:stretch>
                            <a:fillRect l="-100723" t="-300625" r="-1205" b="-37500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0879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Compare the two prospects: sign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r>
                  <a:rPr lang="en-US" dirty="0"/>
                  <a:t> will tell you what you should pick</a:t>
                </a:r>
              </a:p>
              <a:p>
                <a:r>
                  <a:rPr lang="en-US" dirty="0"/>
                  <a:t>Choice as a psychometric function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endParaRPr lang="en-US" b="0" dirty="0">
                  <a:ea typeface="Cambria Math" charset="0"/>
                  <a:cs typeface="Cambria Math" charset="0"/>
                </a:endParaRPr>
              </a:p>
              <a:p>
                <a:r>
                  <a:rPr lang="en-US" dirty="0"/>
                  <a:t>The slope of this function (controlled by the parameter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𝜇</m:t>
                    </m:r>
                  </m:oMath>
                </a14:m>
                <a:r>
                  <a:rPr lang="en-US" dirty="0"/>
                  <a:t>) determines how </a:t>
                </a:r>
                <a:r>
                  <a:rPr lang="en-US" i="1" dirty="0"/>
                  <a:t>sensitive</a:t>
                </a:r>
                <a:r>
                  <a:rPr lang="en-US" dirty="0"/>
                  <a:t> someone is to changes in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endParaRPr lang="en-US" b="0" dirty="0">
                  <a:ea typeface="Cambria Math" charset="0"/>
                  <a:cs typeface="Cambria Math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3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999312"/>
            <a:ext cx="5181600" cy="4003963"/>
          </a:xfrm>
        </p:spPr>
      </p:pic>
    </p:spTree>
    <p:extLst>
      <p:ext uri="{BB962C8B-B14F-4D97-AF65-F5344CB8AC3E}">
        <p14:creationId xmlns:p14="http://schemas.microsoft.com/office/powerpoint/2010/main" val="221816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Likelihood Estimation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693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 vs. Probability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Probability: is the plausibility of a future event (i.e. Will this happen?)</a:t>
            </a:r>
          </a:p>
          <a:p>
            <a:r>
              <a:rPr lang="en-US" dirty="0"/>
              <a:t>Likelihood: is the plausibility of a parameterization given observed data  (i.e. Do these parameters explain what happened?)</a:t>
            </a:r>
          </a:p>
          <a:p>
            <a:r>
              <a:rPr lang="en-US" dirty="0"/>
              <a:t>Maximum likelihood: find the parameters that maximize the likelihood</a:t>
            </a:r>
          </a:p>
          <a:p>
            <a:r>
              <a:rPr lang="en-US" dirty="0"/>
              <a:t>Since the probability of two independent events happing it equal to their product</a:t>
            </a:r>
          </a:p>
          <a:p>
            <a:r>
              <a:rPr lang="en-US" dirty="0"/>
              <a:t>Likelihood would be the product of the model’s predicted probability of every event (choice) </a:t>
            </a:r>
          </a:p>
        </p:txBody>
      </p:sp>
    </p:spTree>
    <p:extLst>
      <p:ext uri="{BB962C8B-B14F-4D97-AF65-F5344CB8AC3E}">
        <p14:creationId xmlns:p14="http://schemas.microsoft.com/office/powerpoint/2010/main" val="1395679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For example: if the model predicts for a certain parameterization, p(Risky) is 0.7 for a given stimulus seen 10 times</a:t>
            </a:r>
          </a:p>
          <a:p>
            <a:r>
              <a:rPr lang="en-US" dirty="0"/>
              <a:t>And their choices are R, C, R, R, C, R, C, R, R, R,</a:t>
            </a:r>
          </a:p>
          <a:p>
            <a:r>
              <a:rPr lang="en-US" dirty="0"/>
              <a:t>Then the probability the model was right in predicting the behavior is:</a:t>
            </a:r>
          </a:p>
          <a:p>
            <a:pPr lvl="1"/>
            <a:r>
              <a:rPr lang="en-US" dirty="0"/>
              <a:t>0.7* (1 - 0.7) * 0.7 * 0.7 * (1 - 0.7) * 0.7 * (1 - 0.7) * 0.7 * 0.7 *0.7</a:t>
            </a:r>
          </a:p>
          <a:p>
            <a:r>
              <a:rPr lang="en-US" dirty="0"/>
              <a:t>The BIGGER this number is, the more likely it is that your parameter estimates are right</a:t>
            </a:r>
          </a:p>
          <a:p>
            <a:pPr lvl="1"/>
            <a:r>
              <a:rPr lang="en-US" dirty="0"/>
              <a:t>0.0004782969 (predicted p(Risky) = 0.9)</a:t>
            </a:r>
          </a:p>
          <a:p>
            <a:pPr lvl="1"/>
            <a:r>
              <a:rPr lang="en-US" dirty="0"/>
              <a:t>0.002223566 (predicted p(Risky) = 0.7)</a:t>
            </a:r>
          </a:p>
          <a:p>
            <a:pPr lvl="1"/>
            <a:r>
              <a:rPr lang="en-US" dirty="0"/>
              <a:t>0.0009765625 (predicted p(Risky) = 0.5)</a:t>
            </a:r>
          </a:p>
          <a:p>
            <a:pPr lvl="1"/>
            <a:r>
              <a:rPr lang="en-US" dirty="0"/>
              <a:t>7.29e-08 (predicted p(Risky) = 0.1)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8679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 Likelihood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practice however, people tend to use the log of the likelihood because it facilitates the derivation of the log Likelihood function</a:t>
                </a:r>
              </a:p>
              <a:p>
                <a:r>
                  <a:rPr lang="en-US" dirty="0"/>
                  <a:t>Since the log of a product is equal to the sum of the logs, we can just estimate the probability for each observation individually and then sum them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𝐶𝐴𝐵𝐼𝑁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Also, here probabilities take the values [0, 1],  which means the log all values are negative and values closer to 1 will be closer to 0</a:t>
                </a:r>
              </a:p>
              <a:p>
                <a:r>
                  <a:rPr lang="en-US" dirty="0"/>
                  <a:t>So what we want to do is to MINIMIZE the negative log Likelihood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 r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340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62AE3-D5C6-3F49-9C33-C0D63D5AF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00A0F6-D115-EA44-9F39-762B1506D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6898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2D5AA8-932F-B143-AAC9-660061FA5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DE9924-0497-BE4F-9614-91DC461B29E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Does wearing Designer shirts makes you place more utility on larger sums of money?</a:t>
            </a:r>
          </a:p>
          <a:p>
            <a:r>
              <a:rPr lang="en-US" dirty="0"/>
              <a:t>Condition 1: Designer Shirt</a:t>
            </a:r>
          </a:p>
          <a:p>
            <a:r>
              <a:rPr lang="en-US" dirty="0"/>
              <a:t>Condition 2: Cheap Shirt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25799A7-F6C1-CF43-A4ED-179AF6CDBF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3438" t="12472" r="13708" b="17078"/>
          <a:stretch/>
        </p:blipFill>
        <p:spPr>
          <a:xfrm>
            <a:off x="9050694" y="1272748"/>
            <a:ext cx="2875454" cy="27805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5814F6-69F1-834A-8CA0-FE6BFBE842F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64535" y="3884177"/>
            <a:ext cx="2929215" cy="265922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9064407-59B3-D445-8E5F-055D4F74445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44548" y="1441842"/>
            <a:ext cx="2442335" cy="244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0827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4C402D-C875-314E-985D-4D3740CA6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</a:t>
            </a:r>
          </a:p>
        </p:txBody>
      </p:sp>
      <p:pic>
        <p:nvPicPr>
          <p:cNvPr id="6" name="Content Placeholder 3">
            <a:extLst>
              <a:ext uri="{FF2B5EF4-FFF2-40B4-BE49-F238E27FC236}">
                <a16:creationId xmlns:a16="http://schemas.microsoft.com/office/drawing/2014/main" id="{4A673692-4F04-AA43-BFA9-0984169BE2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411"/>
          <a:stretch/>
        </p:blipFill>
        <p:spPr>
          <a:xfrm>
            <a:off x="1047750" y="2306509"/>
            <a:ext cx="10096500" cy="2235584"/>
          </a:xfrm>
        </p:spPr>
      </p:pic>
    </p:spTree>
    <p:extLst>
      <p:ext uri="{BB962C8B-B14F-4D97-AF65-F5344CB8AC3E}">
        <p14:creationId xmlns:p14="http://schemas.microsoft.com/office/powerpoint/2010/main" val="5267910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E453712-55BF-C94A-AAC4-7AA10EAF4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048F577-A006-694C-A0EF-57C73B002C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err="1"/>
              <a:t>P_Gamble</a:t>
            </a:r>
            <a:r>
              <a:rPr lang="en-US" dirty="0"/>
              <a:t>: probability of the gamble</a:t>
            </a:r>
          </a:p>
          <a:p>
            <a:r>
              <a:rPr lang="en-US" dirty="0" err="1"/>
              <a:t>A_Gamble</a:t>
            </a:r>
            <a:r>
              <a:rPr lang="en-US" dirty="0"/>
              <a:t>: Amount of $ for the Gamble</a:t>
            </a:r>
          </a:p>
          <a:p>
            <a:r>
              <a:rPr lang="en-US" dirty="0" err="1"/>
              <a:t>A_Certain</a:t>
            </a:r>
            <a:r>
              <a:rPr lang="en-US" dirty="0"/>
              <a:t>: Amount of $ for the certain option</a:t>
            </a:r>
          </a:p>
          <a:p>
            <a:r>
              <a:rPr lang="en-US" dirty="0"/>
              <a:t>PID: Participant ID</a:t>
            </a:r>
          </a:p>
          <a:p>
            <a:r>
              <a:rPr lang="en-US" dirty="0"/>
              <a:t>Condition: Experimental condition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0BA5C12-A172-094F-852C-5D31CD72D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272204"/>
            <a:ext cx="5181600" cy="3458179"/>
          </a:xfrm>
        </p:spPr>
      </p:pic>
    </p:spTree>
    <p:extLst>
      <p:ext uri="{BB962C8B-B14F-4D97-AF65-F5344CB8AC3E}">
        <p14:creationId xmlns:p14="http://schemas.microsoft.com/office/powerpoint/2010/main" val="36713287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EE00B0-74C5-1245-B893-13FF3B7D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 Model (equations)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BE26C395-69E3-6540-AC67-E780578F42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1 −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1/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𝑅𝑖𝑠𝑘𝑦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𝐶𝑒𝑟𝑡𝑎𝑖𝑛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𝑅𝑖𝑠𝑘𝑦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1+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l-G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BE26C395-69E3-6540-AC67-E780578F42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01672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788A9D-0F8E-444F-AB43-AFE81869D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GitHub: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3EBD03-1A15-5A49-893A-088E17703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kcastanheira</a:t>
            </a:r>
            <a:r>
              <a:rPr lang="en-US" dirty="0"/>
              <a:t>/</a:t>
            </a:r>
            <a:r>
              <a:rPr lang="en-US" dirty="0" err="1"/>
              <a:t>Cog_modelling_tutorial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0473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1656</Words>
  <Application>Microsoft Macintosh PowerPoint</Application>
  <PresentationFormat>Widescreen</PresentationFormat>
  <Paragraphs>209</Paragraphs>
  <Slides>34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Calibri Light</vt:lpstr>
      <vt:lpstr>Cambria Math</vt:lpstr>
      <vt:lpstr>Wingdings</vt:lpstr>
      <vt:lpstr>Office Theme</vt:lpstr>
      <vt:lpstr>Cognitive Modelling Workshop</vt:lpstr>
      <vt:lpstr>What is a computational model?</vt:lpstr>
      <vt:lpstr>Why use Computational Models?</vt:lpstr>
      <vt:lpstr>Brain/Machine</vt:lpstr>
      <vt:lpstr>Marr’s Three levels of analysis</vt:lpstr>
      <vt:lpstr>Steps to making a Computational Model</vt:lpstr>
      <vt:lpstr>Parameter</vt:lpstr>
      <vt:lpstr>Limitations &amp; Concerns </vt:lpstr>
      <vt:lpstr>Occam’s Razor</vt:lpstr>
      <vt:lpstr>Overfitting</vt:lpstr>
      <vt:lpstr>Avoiding Overfitting</vt:lpstr>
      <vt:lpstr>Expected Utility Theory</vt:lpstr>
      <vt:lpstr>St. Petersburg Paradox</vt:lpstr>
      <vt:lpstr>St. Petersburg Paradox</vt:lpstr>
      <vt:lpstr>What is Utility?</vt:lpstr>
      <vt:lpstr>Expected Utility Theory</vt:lpstr>
      <vt:lpstr>Problems with Expected Utility Theory</vt:lpstr>
      <vt:lpstr>Prospect Theory</vt:lpstr>
      <vt:lpstr>Prospect theory</vt:lpstr>
      <vt:lpstr>Fourfold Pattern of Risk Preferences</vt:lpstr>
      <vt:lpstr>Prospect Theory</vt:lpstr>
      <vt:lpstr>Probability Weighting Function</vt:lpstr>
      <vt:lpstr>Prospect Theory</vt:lpstr>
      <vt:lpstr>Choice</vt:lpstr>
      <vt:lpstr>Maximum Likelihood Estimation</vt:lpstr>
      <vt:lpstr>Likelihood vs. Probability</vt:lpstr>
      <vt:lpstr>Likelihood</vt:lpstr>
      <vt:lpstr>Log Likelihood</vt:lpstr>
      <vt:lpstr>Data Analysis</vt:lpstr>
      <vt:lpstr>Hypothesis</vt:lpstr>
      <vt:lpstr>Task</vt:lpstr>
      <vt:lpstr>Data</vt:lpstr>
      <vt:lpstr>Prospect Theory Model (equations)</vt:lpstr>
      <vt:lpstr>GitHub: </vt:lpstr>
    </vt:vector>
  </TitlesOfParts>
  <Company/>
  <LinksUpToDate>false</LinksUpToDate>
  <SharedDoc>false</SharedDoc>
  <HyperlinksChanged>false</HyperlinksChanged>
  <AppVersion>16.0013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Cognitive Modelling Workshop</dc:title>
  <dc:creator>Kevin da Silva Castanheira</dc:creator>
  <cp:lastModifiedBy>Kevin da Silva Castanheira</cp:lastModifiedBy>
  <cp:revision>30</cp:revision>
  <dcterms:created xsi:type="dcterms:W3CDTF">2018-05-22T13:37:31Z</dcterms:created>
  <dcterms:modified xsi:type="dcterms:W3CDTF">2018-05-30T14:51:06Z</dcterms:modified>
</cp:coreProperties>
</file>