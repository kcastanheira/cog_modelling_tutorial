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7" r:id="rId2"/>
    <p:sldId id="259" r:id="rId3"/>
    <p:sldId id="260" r:id="rId4"/>
    <p:sldId id="261" r:id="rId5"/>
    <p:sldId id="262" r:id="rId6"/>
    <p:sldId id="263" r:id="rId7"/>
    <p:sldId id="286" r:id="rId8"/>
    <p:sldId id="264" r:id="rId9"/>
    <p:sldId id="265" r:id="rId10"/>
    <p:sldId id="266" r:id="rId11"/>
    <p:sldId id="287" r:id="rId12"/>
    <p:sldId id="268" r:id="rId13"/>
    <p:sldId id="269" r:id="rId14"/>
    <p:sldId id="270" r:id="rId15"/>
    <p:sldId id="271" r:id="rId16"/>
    <p:sldId id="272" r:id="rId17"/>
    <p:sldId id="273" r:id="rId18"/>
    <p:sldId id="281" r:id="rId19"/>
    <p:sldId id="275" r:id="rId20"/>
    <p:sldId id="277" r:id="rId21"/>
    <p:sldId id="278" r:id="rId22"/>
    <p:sldId id="279" r:id="rId23"/>
    <p:sldId id="280" r:id="rId24"/>
    <p:sldId id="284" r:id="rId25"/>
    <p:sldId id="282" r:id="rId26"/>
    <p:sldId id="283" r:id="rId27"/>
    <p:sldId id="285" r:id="rId28"/>
    <p:sldId id="289" r:id="rId29"/>
    <p:sldId id="292" r:id="rId30"/>
    <p:sldId id="291" r:id="rId31"/>
    <p:sldId id="290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1320"/>
  </p:normalViewPr>
  <p:slideViewPr>
    <p:cSldViewPr snapToGrid="0" snapToObjects="1">
      <p:cViewPr varScale="1">
        <p:scale>
          <a:sx n="86" d="100"/>
          <a:sy n="86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F801E-0FDB-414A-BC65-AF24B6303C3B}" type="datetimeFigureOut">
              <a:rPr lang="en-US" smtClean="0"/>
              <a:t>5/29/18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AB347-178C-B344-9E21-30F93614D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facweb.cti.depaul.edu/mobasher/classes/HON207/Readings/cognitive-modeling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BA4AD-6F81-DB4D-86BA-1612B3250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3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Marr, D. C. (1982). A computational investigation into the human representation and processing of visual information.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Free-man, San Francisco, CA</a:t>
            </a:r>
            <a:r>
              <a:rPr lang="en-US" sz="12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BA4AD-6F81-DB4D-86BA-1612B32506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7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http://facweb.cti.depaul.edu/mobasher/classes/HON207/Readings/cognitive-modeling.pdf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2AB347-178C-B344-9E21-30F93614D6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96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BA4AD-6F81-DB4D-86BA-1612B3250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86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BA4AD-6F81-DB4D-86BA-1612B3250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56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EA8144-C080-BF49-9019-09EE0F8D39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53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in 7 people die from cancer but 1 in 88 people die in motor vehicle </a:t>
            </a:r>
            <a:r>
              <a:rPr lang="en-US" dirty="0" err="1"/>
              <a:t>accients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2AB347-178C-B344-9E21-30F93614D6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31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8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0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0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1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9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0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3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8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A36D5-AD61-8F46-BA4F-560EE1657858}" type="datetimeFigureOut">
              <a:rPr lang="en-US" smtClean="0"/>
              <a:t>5/29/18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89338-72E4-1A40-B2BF-F30C454A0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Cognitive Modelling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May 30</a:t>
            </a:r>
            <a:r>
              <a:rPr lang="en-US" baseline="30000" dirty="0"/>
              <a:t>th</a:t>
            </a:r>
            <a:r>
              <a:rPr lang="en-US" dirty="0"/>
              <a:t>, 2018</a:t>
            </a:r>
          </a:p>
          <a:p>
            <a:r>
              <a:rPr lang="en-US" dirty="0"/>
              <a:t>Kevin da Silva </a:t>
            </a:r>
            <a:r>
              <a:rPr lang="en-US" dirty="0" err="1"/>
              <a:t>Castanheira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1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104" y="1690688"/>
            <a:ext cx="5930900" cy="3479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computational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62599" cy="4351338"/>
          </a:xfrm>
        </p:spPr>
        <p:txBody>
          <a:bodyPr>
            <a:normAutofit/>
          </a:bodyPr>
          <a:lstStyle/>
          <a:p>
            <a:r>
              <a:rPr lang="en-US" dirty="0"/>
              <a:t>Model:</a:t>
            </a:r>
          </a:p>
          <a:p>
            <a:pPr lvl="1"/>
            <a:r>
              <a:rPr lang="en-US" dirty="0"/>
              <a:t>Some form of abstraction that represents reality</a:t>
            </a:r>
          </a:p>
          <a:p>
            <a:pPr lvl="1"/>
            <a:r>
              <a:rPr lang="en-US" dirty="0"/>
              <a:t>Help us understand reality</a:t>
            </a:r>
          </a:p>
          <a:p>
            <a:pPr lvl="1"/>
            <a:r>
              <a:rPr lang="en-US" dirty="0"/>
              <a:t>E.g. Bohr-Rutherford model</a:t>
            </a:r>
          </a:p>
          <a:p>
            <a:r>
              <a:rPr lang="en-US" dirty="0"/>
              <a:t>Computational:</a:t>
            </a:r>
          </a:p>
          <a:p>
            <a:pPr lvl="1"/>
            <a:r>
              <a:rPr lang="en-US" dirty="0"/>
              <a:t>Using a computer</a:t>
            </a:r>
          </a:p>
          <a:p>
            <a:pPr lvl="1"/>
            <a:r>
              <a:rPr lang="en-US" dirty="0"/>
              <a:t>Nothing special about computers</a:t>
            </a:r>
            <a:r>
              <a:rPr lang="is-IS" dirty="0"/>
              <a:t>… you could use toilet paper and stones (Searle, 1980)</a:t>
            </a:r>
          </a:p>
          <a:p>
            <a:pPr lvl="1"/>
            <a:r>
              <a:rPr lang="en-US" dirty="0"/>
              <a:t>C</a:t>
            </a:r>
            <a:r>
              <a:rPr lang="is-IS" dirty="0"/>
              <a:t>onvenience, accuracy, power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28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Computational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Think of the brain like a machine</a:t>
            </a:r>
          </a:p>
          <a:p>
            <a:pPr lvl="1"/>
            <a:r>
              <a:rPr lang="en-US" dirty="0"/>
              <a:t>Sensory input &amp; motor output</a:t>
            </a:r>
          </a:p>
          <a:p>
            <a:r>
              <a:rPr lang="en-US" dirty="0"/>
              <a:t>If you knew the blueprints to the “brain machine” you could:</a:t>
            </a:r>
          </a:p>
          <a:p>
            <a:pPr lvl="1"/>
            <a:r>
              <a:rPr lang="en-US" dirty="0"/>
              <a:t>Take it apart and put it back together</a:t>
            </a:r>
          </a:p>
          <a:p>
            <a:pPr lvl="1"/>
            <a:r>
              <a:rPr lang="en-US" dirty="0"/>
              <a:t>Fix it when it’s broken</a:t>
            </a:r>
          </a:p>
          <a:p>
            <a:pPr lvl="1"/>
            <a:r>
              <a:rPr lang="en-US" dirty="0"/>
              <a:t>Predict what modifications will do to it</a:t>
            </a:r>
          </a:p>
          <a:p>
            <a:pPr lvl="1"/>
            <a:r>
              <a:rPr lang="en-US" dirty="0"/>
              <a:t>Predict what output you’d get for a given input</a:t>
            </a:r>
          </a:p>
          <a:p>
            <a:pPr lvl="1"/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69708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Brain/Machine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try to understand the brain/machine at different levels</a:t>
            </a:r>
          </a:p>
          <a:p>
            <a:pPr lvl="1"/>
            <a:r>
              <a:rPr lang="en-US" dirty="0"/>
              <a:t>Knowing what the machine is doing</a:t>
            </a:r>
          </a:p>
          <a:p>
            <a:pPr lvl="1"/>
            <a:r>
              <a:rPr lang="en-US" dirty="0"/>
              <a:t>Knowing what operations the machine is doing</a:t>
            </a:r>
          </a:p>
          <a:p>
            <a:pPr lvl="1"/>
            <a:r>
              <a:rPr lang="en-US" dirty="0"/>
              <a:t>Knowing how the machine is carrying out those operations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1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Marr’s Three levels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Computational</a:t>
            </a:r>
          </a:p>
          <a:p>
            <a:pPr lvl="1"/>
            <a:r>
              <a:rPr lang="en-US" dirty="0"/>
              <a:t>What is the goal of the computation, why is it appropriate, and what is the logic of the strategy by which it can be carried out?</a:t>
            </a:r>
          </a:p>
          <a:p>
            <a:r>
              <a:rPr lang="en-US" dirty="0"/>
              <a:t>Representational / Algorithmic</a:t>
            </a:r>
          </a:p>
          <a:p>
            <a:pPr lvl="1"/>
            <a:r>
              <a:rPr lang="en-US" dirty="0"/>
              <a:t>How can this computational theory be implemented? In particular, what is the representation of for the inputs and outputs, and what is the algorithm for the transformation?</a:t>
            </a:r>
          </a:p>
          <a:p>
            <a:r>
              <a:rPr lang="en-US" dirty="0"/>
              <a:t>Hardware Implementation</a:t>
            </a:r>
          </a:p>
          <a:p>
            <a:pPr lvl="1"/>
            <a:r>
              <a:rPr lang="en-US" dirty="0"/>
              <a:t>How can the representation and algorithm be realized physically?</a:t>
            </a:r>
          </a:p>
        </p:txBody>
      </p:sp>
    </p:spTree>
    <p:extLst>
      <p:ext uri="{BB962C8B-B14F-4D97-AF65-F5344CB8AC3E}">
        <p14:creationId xmlns:p14="http://schemas.microsoft.com/office/powerpoint/2010/main" val="49699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making a Computational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</a:t>
            </a:r>
            <a:r>
              <a:rPr lang="en-US" dirty="0"/>
              <a:t> Reformulate the conceptual framework in terms of rigorous mathematical or computer language (code) description</a:t>
            </a:r>
          </a:p>
          <a:p>
            <a:r>
              <a:rPr lang="en-US" b="1" dirty="0"/>
              <a:t>Step 2: </a:t>
            </a:r>
            <a:r>
              <a:rPr lang="en-US" dirty="0"/>
              <a:t>Make additional assumptions necessary not included in the conceptual framework (ad hoc assumptions)</a:t>
            </a:r>
          </a:p>
          <a:p>
            <a:r>
              <a:rPr lang="en-US" b="1" dirty="0"/>
              <a:t>Step 3:</a:t>
            </a:r>
            <a:r>
              <a:rPr lang="en-US" dirty="0"/>
              <a:t> Estimate values for the coefficients, parameters</a:t>
            </a:r>
          </a:p>
          <a:p>
            <a:r>
              <a:rPr lang="en-US" b="1" dirty="0"/>
              <a:t>Step 4: </a:t>
            </a:r>
            <a:r>
              <a:rPr lang="en-US" dirty="0"/>
              <a:t>Compare the predictions of your model to competing models. Which one produces results closets to the empirical data?</a:t>
            </a:r>
          </a:p>
          <a:p>
            <a:pPr lvl="1"/>
            <a:r>
              <a:rPr lang="en-US" dirty="0"/>
              <a:t>Design experiments to test opposing predictions of the models</a:t>
            </a:r>
          </a:p>
          <a:p>
            <a:r>
              <a:rPr lang="en-US" b="1" dirty="0"/>
              <a:t>Step 5: </a:t>
            </a:r>
            <a:r>
              <a:rPr lang="en-US" dirty="0"/>
              <a:t>Reformulate framework and start  all over again!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14149-3E52-8B4F-933F-DCC38D2390F7}"/>
              </a:ext>
            </a:extLst>
          </p:cNvPr>
          <p:cNvSpPr txBox="1"/>
          <p:nvPr/>
        </p:nvSpPr>
        <p:spPr>
          <a:xfrm>
            <a:off x="11587397" y="1825625"/>
            <a:ext cx="166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Busemeyer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88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parameter is a variable which can take on a set of values</a:t>
                </a:r>
              </a:p>
              <a:p>
                <a:r>
                  <a:rPr lang="en-US" dirty="0"/>
                  <a:t>This parameter defines a </a:t>
                </a:r>
                <a:r>
                  <a:rPr lang="en-US" i="1" dirty="0"/>
                  <a:t>family</a:t>
                </a:r>
                <a:r>
                  <a:rPr lang="en-US" dirty="0"/>
                  <a:t> of functions</a:t>
                </a:r>
              </a:p>
              <a:p>
                <a:r>
                  <a:rPr lang="en-US" dirty="0"/>
                  <a:t>For example: a linear function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𝑎</m:t>
                    </m:r>
                    <m:r>
                      <a:rPr lang="en-US" b="0" i="1" smtClean="0">
                        <a:latin typeface="Cambria Math" charset="0"/>
                      </a:rPr>
                      <m:t>∗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𝑏</m:t>
                    </m:r>
                  </m:oMath>
                </a14:m>
                <a:r>
                  <a:rPr lang="en-US" dirty="0"/>
                  <a:t> has two parameters:</a:t>
                </a:r>
              </a:p>
              <a:p>
                <a:pPr lvl="1"/>
                <a:r>
                  <a:rPr lang="en-US" dirty="0"/>
                  <a:t>a the y-intercept</a:t>
                </a:r>
              </a:p>
              <a:p>
                <a:pPr lvl="1"/>
                <a:r>
                  <a:rPr lang="en-US" dirty="0"/>
                  <a:t>b the slope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2118" t="-2241" r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778" y="1825625"/>
            <a:ext cx="4712444" cy="4351338"/>
          </a:xfrm>
        </p:spPr>
      </p:pic>
    </p:spTree>
    <p:extLst>
      <p:ext uri="{BB962C8B-B14F-4D97-AF65-F5344CB8AC3E}">
        <p14:creationId xmlns:p14="http://schemas.microsoft.com/office/powerpoint/2010/main" val="802815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Concerns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5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Occam’s Razor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“Plurality should not be posited without necessity.”</a:t>
            </a:r>
          </a:p>
          <a:p>
            <a:r>
              <a:rPr lang="en-US" dirty="0"/>
              <a:t>Heuristic for the development of scientific models</a:t>
            </a:r>
          </a:p>
          <a:p>
            <a:pPr lvl="1"/>
            <a:r>
              <a:rPr lang="en-US" dirty="0"/>
              <a:t>Parsimonious</a:t>
            </a:r>
          </a:p>
          <a:p>
            <a:pPr lvl="1"/>
            <a:r>
              <a:rPr lang="en-US" dirty="0"/>
              <a:t>Falsifiable</a:t>
            </a:r>
          </a:p>
          <a:p>
            <a:pPr lvl="1"/>
            <a:r>
              <a:rPr lang="en-US" dirty="0"/>
              <a:t>Related to Overfitting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831" y="1825625"/>
            <a:ext cx="3268338" cy="4351338"/>
          </a:xfrm>
        </p:spPr>
      </p:pic>
    </p:spTree>
    <p:extLst>
      <p:ext uri="{BB962C8B-B14F-4D97-AF65-F5344CB8AC3E}">
        <p14:creationId xmlns:p14="http://schemas.microsoft.com/office/powerpoint/2010/main" val="74213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791" y="1466008"/>
            <a:ext cx="5469021" cy="539199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Overfitting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88" y="1687251"/>
            <a:ext cx="4647624" cy="4351338"/>
          </a:xfrm>
        </p:spPr>
      </p:pic>
      <p:grpSp>
        <p:nvGrpSpPr>
          <p:cNvPr id="9" name="Group 8"/>
          <p:cNvGrpSpPr/>
          <p:nvPr/>
        </p:nvGrpSpPr>
        <p:grpSpPr>
          <a:xfrm>
            <a:off x="4241339" y="2399739"/>
            <a:ext cx="3274272" cy="3550596"/>
            <a:chOff x="4078779" y="2514885"/>
            <a:chExt cx="3274272" cy="3550596"/>
          </a:xfrm>
        </p:grpSpPr>
        <p:sp>
          <p:nvSpPr>
            <p:cNvPr id="8" name="Oval 7"/>
            <p:cNvSpPr/>
            <p:nvPr/>
          </p:nvSpPr>
          <p:spPr>
            <a:xfrm>
              <a:off x="4791627" y="251488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602441" y="2814430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579368" y="311397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500377" y="3466072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450371" y="365101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4542582" y="3938762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642594" y="411530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4335251" y="4924601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477798" y="5024614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213972" y="501963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078779" y="5119648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313984" y="5247364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450371" y="5190136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681762" y="5894329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4791627" y="5920717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002164" y="594433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559212" y="5894329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6383496" y="5965468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6640999" y="5946470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863828" y="5820704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6963840" y="5635760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7063852" y="527995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913834" y="5207095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7253039" y="5090123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7110492" y="5019634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6948013" y="4942756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6835540" y="5039613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6674226" y="4115304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6763816" y="3808500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6785534" y="3466072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6713810" y="3121623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6713810" y="2775354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6530041" y="2516396"/>
              <a:ext cx="100012" cy="10001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4000500" y="4187039"/>
            <a:ext cx="4191000" cy="4533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000500" y="2670836"/>
            <a:ext cx="3996266" cy="2885957"/>
          </a:xfrm>
          <a:custGeom>
            <a:avLst/>
            <a:gdLst>
              <a:gd name="connsiteX0" fmla="*/ 0 w 3996266"/>
              <a:gd name="connsiteY0" fmla="*/ 0 h 1778013"/>
              <a:gd name="connsiteX1" fmla="*/ 1921933 w 3996266"/>
              <a:gd name="connsiteY1" fmla="*/ 1778000 h 1778013"/>
              <a:gd name="connsiteX2" fmla="*/ 3996266 w 3996266"/>
              <a:gd name="connsiteY2" fmla="*/ 33866 h 1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6266" h="1778013">
                <a:moveTo>
                  <a:pt x="0" y="0"/>
                </a:moveTo>
                <a:cubicBezTo>
                  <a:pt x="627944" y="886178"/>
                  <a:pt x="1255889" y="1772356"/>
                  <a:pt x="1921933" y="1778000"/>
                </a:cubicBezTo>
                <a:cubicBezTo>
                  <a:pt x="2587977" y="1783644"/>
                  <a:pt x="3996266" y="33866"/>
                  <a:pt x="3996266" y="3386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4276740" y="2429933"/>
            <a:ext cx="3200420" cy="3488021"/>
          </a:xfrm>
          <a:custGeom>
            <a:avLst/>
            <a:gdLst>
              <a:gd name="connsiteX0" fmla="*/ 2471193 w 3200420"/>
              <a:gd name="connsiteY0" fmla="*/ 0 h 3488021"/>
              <a:gd name="connsiteX1" fmla="*/ 2657460 w 3200420"/>
              <a:gd name="connsiteY1" fmla="*/ 287867 h 3488021"/>
              <a:gd name="connsiteX2" fmla="*/ 2657460 w 3200420"/>
              <a:gd name="connsiteY2" fmla="*/ 635000 h 3488021"/>
              <a:gd name="connsiteX3" fmla="*/ 2742127 w 3200420"/>
              <a:gd name="connsiteY3" fmla="*/ 965200 h 3488021"/>
              <a:gd name="connsiteX4" fmla="*/ 2699793 w 3200420"/>
              <a:gd name="connsiteY4" fmla="*/ 1320800 h 3488021"/>
              <a:gd name="connsiteX5" fmla="*/ 2589727 w 3200420"/>
              <a:gd name="connsiteY5" fmla="*/ 1608667 h 3488021"/>
              <a:gd name="connsiteX6" fmla="*/ 2759060 w 3200420"/>
              <a:gd name="connsiteY6" fmla="*/ 2548467 h 3488021"/>
              <a:gd name="connsiteX7" fmla="*/ 2869127 w 3200420"/>
              <a:gd name="connsiteY7" fmla="*/ 2463800 h 3488021"/>
              <a:gd name="connsiteX8" fmla="*/ 2860660 w 3200420"/>
              <a:gd name="connsiteY8" fmla="*/ 2726267 h 3488021"/>
              <a:gd name="connsiteX9" fmla="*/ 3038460 w 3200420"/>
              <a:gd name="connsiteY9" fmla="*/ 2514600 h 3488021"/>
              <a:gd name="connsiteX10" fmla="*/ 3004593 w 3200420"/>
              <a:gd name="connsiteY10" fmla="*/ 2794000 h 3488021"/>
              <a:gd name="connsiteX11" fmla="*/ 3199327 w 3200420"/>
              <a:gd name="connsiteY11" fmla="*/ 2582334 h 3488021"/>
              <a:gd name="connsiteX12" fmla="*/ 2902993 w 3200420"/>
              <a:gd name="connsiteY12" fmla="*/ 3158067 h 3488021"/>
              <a:gd name="connsiteX13" fmla="*/ 2809860 w 3200420"/>
              <a:gd name="connsiteY13" fmla="*/ 3361267 h 3488021"/>
              <a:gd name="connsiteX14" fmla="*/ 2581260 w 3200420"/>
              <a:gd name="connsiteY14" fmla="*/ 3471334 h 3488021"/>
              <a:gd name="connsiteX15" fmla="*/ 2318793 w 3200420"/>
              <a:gd name="connsiteY15" fmla="*/ 3479800 h 3488021"/>
              <a:gd name="connsiteX16" fmla="*/ 1522927 w 3200420"/>
              <a:gd name="connsiteY16" fmla="*/ 3395134 h 3488021"/>
              <a:gd name="connsiteX17" fmla="*/ 981060 w 3200420"/>
              <a:gd name="connsiteY17" fmla="*/ 3445934 h 3488021"/>
              <a:gd name="connsiteX18" fmla="*/ 743993 w 3200420"/>
              <a:gd name="connsiteY18" fmla="*/ 3445934 h 3488021"/>
              <a:gd name="connsiteX19" fmla="*/ 574660 w 3200420"/>
              <a:gd name="connsiteY19" fmla="*/ 3403600 h 3488021"/>
              <a:gd name="connsiteX20" fmla="*/ 7393 w 3200420"/>
              <a:gd name="connsiteY20" fmla="*/ 2641600 h 3488021"/>
              <a:gd name="connsiteX21" fmla="*/ 244460 w 3200420"/>
              <a:gd name="connsiteY21" fmla="*/ 2794000 h 3488021"/>
              <a:gd name="connsiteX22" fmla="*/ 142860 w 3200420"/>
              <a:gd name="connsiteY22" fmla="*/ 2506134 h 3488021"/>
              <a:gd name="connsiteX23" fmla="*/ 371460 w 3200420"/>
              <a:gd name="connsiteY23" fmla="*/ 2700867 h 3488021"/>
              <a:gd name="connsiteX24" fmla="*/ 244460 w 3200420"/>
              <a:gd name="connsiteY24" fmla="*/ 2396067 h 3488021"/>
              <a:gd name="connsiteX25" fmla="*/ 456127 w 3200420"/>
              <a:gd name="connsiteY25" fmla="*/ 2556934 h 3488021"/>
              <a:gd name="connsiteX26" fmla="*/ 583127 w 3200420"/>
              <a:gd name="connsiteY26" fmla="*/ 1625600 h 3488021"/>
              <a:gd name="connsiteX27" fmla="*/ 473060 w 3200420"/>
              <a:gd name="connsiteY27" fmla="*/ 1464734 h 3488021"/>
              <a:gd name="connsiteX28" fmla="*/ 388393 w 3200420"/>
              <a:gd name="connsiteY28" fmla="*/ 1185334 h 3488021"/>
              <a:gd name="connsiteX29" fmla="*/ 439193 w 3200420"/>
              <a:gd name="connsiteY29" fmla="*/ 965200 h 3488021"/>
              <a:gd name="connsiteX30" fmla="*/ 506927 w 3200420"/>
              <a:gd name="connsiteY30" fmla="*/ 660400 h 3488021"/>
              <a:gd name="connsiteX31" fmla="*/ 549260 w 3200420"/>
              <a:gd name="connsiteY31" fmla="*/ 355600 h 3488021"/>
              <a:gd name="connsiteX32" fmla="*/ 735527 w 3200420"/>
              <a:gd name="connsiteY32" fmla="*/ 33867 h 3488021"/>
              <a:gd name="connsiteX33" fmla="*/ 735527 w 3200420"/>
              <a:gd name="connsiteY33" fmla="*/ 33867 h 348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00420" h="3488021">
                <a:moveTo>
                  <a:pt x="2471193" y="0"/>
                </a:moveTo>
                <a:cubicBezTo>
                  <a:pt x="2548804" y="91017"/>
                  <a:pt x="2626416" y="182034"/>
                  <a:pt x="2657460" y="287867"/>
                </a:cubicBezTo>
                <a:cubicBezTo>
                  <a:pt x="2688504" y="393700"/>
                  <a:pt x="2643349" y="522111"/>
                  <a:pt x="2657460" y="635000"/>
                </a:cubicBezTo>
                <a:cubicBezTo>
                  <a:pt x="2671571" y="747889"/>
                  <a:pt x="2735072" y="850900"/>
                  <a:pt x="2742127" y="965200"/>
                </a:cubicBezTo>
                <a:cubicBezTo>
                  <a:pt x="2749183" y="1079500"/>
                  <a:pt x="2725193" y="1213556"/>
                  <a:pt x="2699793" y="1320800"/>
                </a:cubicBezTo>
                <a:cubicBezTo>
                  <a:pt x="2674393" y="1428044"/>
                  <a:pt x="2579849" y="1404056"/>
                  <a:pt x="2589727" y="1608667"/>
                </a:cubicBezTo>
                <a:cubicBezTo>
                  <a:pt x="2599605" y="1813278"/>
                  <a:pt x="2712493" y="2405945"/>
                  <a:pt x="2759060" y="2548467"/>
                </a:cubicBezTo>
                <a:cubicBezTo>
                  <a:pt x="2805627" y="2690989"/>
                  <a:pt x="2852194" y="2434167"/>
                  <a:pt x="2869127" y="2463800"/>
                </a:cubicBezTo>
                <a:cubicBezTo>
                  <a:pt x="2886060" y="2493433"/>
                  <a:pt x="2832438" y="2717800"/>
                  <a:pt x="2860660" y="2726267"/>
                </a:cubicBezTo>
                <a:cubicBezTo>
                  <a:pt x="2888882" y="2734734"/>
                  <a:pt x="3014471" y="2503311"/>
                  <a:pt x="3038460" y="2514600"/>
                </a:cubicBezTo>
                <a:cubicBezTo>
                  <a:pt x="3062449" y="2525889"/>
                  <a:pt x="2977782" y="2782711"/>
                  <a:pt x="3004593" y="2794000"/>
                </a:cubicBezTo>
                <a:cubicBezTo>
                  <a:pt x="3031404" y="2805289"/>
                  <a:pt x="3216260" y="2521656"/>
                  <a:pt x="3199327" y="2582334"/>
                </a:cubicBezTo>
                <a:cubicBezTo>
                  <a:pt x="3182394" y="2643012"/>
                  <a:pt x="2967904" y="3028245"/>
                  <a:pt x="2902993" y="3158067"/>
                </a:cubicBezTo>
                <a:cubicBezTo>
                  <a:pt x="2838082" y="3287889"/>
                  <a:pt x="2863482" y="3309056"/>
                  <a:pt x="2809860" y="3361267"/>
                </a:cubicBezTo>
                <a:cubicBezTo>
                  <a:pt x="2756238" y="3413478"/>
                  <a:pt x="2663105" y="3451578"/>
                  <a:pt x="2581260" y="3471334"/>
                </a:cubicBezTo>
                <a:cubicBezTo>
                  <a:pt x="2499415" y="3491090"/>
                  <a:pt x="2495182" y="3492500"/>
                  <a:pt x="2318793" y="3479800"/>
                </a:cubicBezTo>
                <a:cubicBezTo>
                  <a:pt x="2142404" y="3467100"/>
                  <a:pt x="1745882" y="3400778"/>
                  <a:pt x="1522927" y="3395134"/>
                </a:cubicBezTo>
                <a:cubicBezTo>
                  <a:pt x="1299972" y="3389490"/>
                  <a:pt x="1110882" y="3437467"/>
                  <a:pt x="981060" y="3445934"/>
                </a:cubicBezTo>
                <a:cubicBezTo>
                  <a:pt x="851238" y="3454401"/>
                  <a:pt x="811726" y="3452990"/>
                  <a:pt x="743993" y="3445934"/>
                </a:cubicBezTo>
                <a:cubicBezTo>
                  <a:pt x="676260" y="3438878"/>
                  <a:pt x="697427" y="3537656"/>
                  <a:pt x="574660" y="3403600"/>
                </a:cubicBezTo>
                <a:cubicBezTo>
                  <a:pt x="451893" y="3269544"/>
                  <a:pt x="62426" y="2743200"/>
                  <a:pt x="7393" y="2641600"/>
                </a:cubicBezTo>
                <a:cubicBezTo>
                  <a:pt x="-47640" y="2540000"/>
                  <a:pt x="221882" y="2816578"/>
                  <a:pt x="244460" y="2794000"/>
                </a:cubicBezTo>
                <a:cubicBezTo>
                  <a:pt x="267038" y="2771422"/>
                  <a:pt x="121693" y="2521656"/>
                  <a:pt x="142860" y="2506134"/>
                </a:cubicBezTo>
                <a:cubicBezTo>
                  <a:pt x="164027" y="2490612"/>
                  <a:pt x="354527" y="2719211"/>
                  <a:pt x="371460" y="2700867"/>
                </a:cubicBezTo>
                <a:cubicBezTo>
                  <a:pt x="388393" y="2682523"/>
                  <a:pt x="230349" y="2420056"/>
                  <a:pt x="244460" y="2396067"/>
                </a:cubicBezTo>
                <a:cubicBezTo>
                  <a:pt x="258571" y="2372078"/>
                  <a:pt x="399683" y="2685345"/>
                  <a:pt x="456127" y="2556934"/>
                </a:cubicBezTo>
                <a:cubicBezTo>
                  <a:pt x="512571" y="2428523"/>
                  <a:pt x="580305" y="1807633"/>
                  <a:pt x="583127" y="1625600"/>
                </a:cubicBezTo>
                <a:cubicBezTo>
                  <a:pt x="585949" y="1443567"/>
                  <a:pt x="505516" y="1538112"/>
                  <a:pt x="473060" y="1464734"/>
                </a:cubicBezTo>
                <a:cubicBezTo>
                  <a:pt x="440604" y="1391356"/>
                  <a:pt x="394037" y="1268590"/>
                  <a:pt x="388393" y="1185334"/>
                </a:cubicBezTo>
                <a:cubicBezTo>
                  <a:pt x="382749" y="1102078"/>
                  <a:pt x="419437" y="1052689"/>
                  <a:pt x="439193" y="965200"/>
                </a:cubicBezTo>
                <a:cubicBezTo>
                  <a:pt x="458949" y="877711"/>
                  <a:pt x="488583" y="762000"/>
                  <a:pt x="506927" y="660400"/>
                </a:cubicBezTo>
                <a:cubicBezTo>
                  <a:pt x="525271" y="558800"/>
                  <a:pt x="511160" y="460022"/>
                  <a:pt x="549260" y="355600"/>
                </a:cubicBezTo>
                <a:cubicBezTo>
                  <a:pt x="587360" y="251178"/>
                  <a:pt x="735527" y="33867"/>
                  <a:pt x="735527" y="33867"/>
                </a:cubicBezTo>
                <a:lnTo>
                  <a:pt x="735527" y="33867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9" name="Group 78"/>
          <p:cNvGrpSpPr/>
          <p:nvPr/>
        </p:nvGrpSpPr>
        <p:grpSpPr>
          <a:xfrm>
            <a:off x="4206541" y="2804115"/>
            <a:ext cx="3646871" cy="2796302"/>
            <a:chOff x="4206541" y="2804115"/>
            <a:chExt cx="3646871" cy="2796302"/>
          </a:xfrm>
        </p:grpSpPr>
        <p:sp>
          <p:nvSpPr>
            <p:cNvPr id="64" name="Oval 63"/>
            <p:cNvSpPr/>
            <p:nvPr/>
          </p:nvSpPr>
          <p:spPr>
            <a:xfrm>
              <a:off x="4206541" y="2904128"/>
              <a:ext cx="100012" cy="100013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4340923" y="2804115"/>
              <a:ext cx="3512489" cy="2796302"/>
              <a:chOff x="4340923" y="2804115"/>
              <a:chExt cx="3512489" cy="2796302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4340923" y="3807890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5363103" y="4984013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6306914" y="5438691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5463115" y="5500404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6607805" y="4802565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7165953" y="4295391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7315587" y="3646959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7706246" y="3388696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4715412" y="4508388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7753400" y="2804115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6976382" y="5382858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4740370" y="5332851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4397799" y="4495953"/>
                <a:ext cx="100012" cy="10001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8827665" y="2766151"/>
                <a:ext cx="325315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𝑌</m:t>
                      </m:r>
                      <m:r>
                        <a:rPr lang="en-US" sz="3200" b="0" i="1" smtClean="0">
                          <a:latin typeface="Cambria Math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665" y="2766151"/>
                <a:ext cx="3253154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420826" y="3223115"/>
                <a:ext cx="365999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𝑌</m:t>
                      </m:r>
                      <m:r>
                        <a:rPr lang="en-US" sz="3200" b="0" i="1" smtClean="0">
                          <a:latin typeface="Cambria Math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𝑋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826" y="3223115"/>
                <a:ext cx="3659993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8370001" y="3735022"/>
                <a:ext cx="3821795" cy="737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charset="0"/>
                        </a:rPr>
                        <m:t>𝑌</m:t>
                      </m:r>
                      <m:r>
                        <a:rPr lang="en-US" sz="1600" b="0" i="1" smtClean="0">
                          <a:latin typeface="Cambria Math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𝑋</m:t>
                      </m:r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f>
                        <m:fPr>
                          <m:ctrlPr>
                            <a:rPr lang="bg-BG" sz="16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𝜉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𝜏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6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𝑋</m:t>
                                          </m:r>
                                        </m:e>
                                      </m:rad>
                                      <m:r>
                                        <a:rPr lang="en-US" sz="16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rad>
                            <m:radPr>
                              <m:ctrlPr>
                                <a:rPr lang="uk-UA" sz="16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uk-UA" sz="16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𝜔</m:t>
                                  </m:r>
                                  <m:r>
                                    <a:rPr lang="en-US" sz="16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𝑋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+</m:t>
                      </m:r>
                      <m:r>
                        <a:rPr lang="en-US" sz="1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001" y="3735022"/>
                <a:ext cx="3821795" cy="73706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Freeform 82">
            <a:extLst>
              <a:ext uri="{FF2B5EF4-FFF2-40B4-BE49-F238E27FC236}">
                <a16:creationId xmlns:a16="http://schemas.microsoft.com/office/drawing/2014/main" id="{79AA6D6A-2FD5-424D-9385-52AB0D51E4E4}"/>
              </a:ext>
            </a:extLst>
          </p:cNvPr>
          <p:cNvSpPr/>
          <p:nvPr/>
        </p:nvSpPr>
        <p:spPr>
          <a:xfrm>
            <a:off x="4379678" y="2640669"/>
            <a:ext cx="3034907" cy="3099031"/>
          </a:xfrm>
          <a:custGeom>
            <a:avLst/>
            <a:gdLst>
              <a:gd name="connsiteX0" fmla="*/ 0 w 3996266"/>
              <a:gd name="connsiteY0" fmla="*/ 0 h 1778013"/>
              <a:gd name="connsiteX1" fmla="*/ 1921933 w 3996266"/>
              <a:gd name="connsiteY1" fmla="*/ 1778000 h 1778013"/>
              <a:gd name="connsiteX2" fmla="*/ 3996266 w 3996266"/>
              <a:gd name="connsiteY2" fmla="*/ 33866 h 1778013"/>
              <a:gd name="connsiteX0" fmla="*/ 0 w 3585206"/>
              <a:gd name="connsiteY0" fmla="*/ 0 h 1763589"/>
              <a:gd name="connsiteX1" fmla="*/ 1510873 w 3585206"/>
              <a:gd name="connsiteY1" fmla="*/ 1763576 h 1763589"/>
              <a:gd name="connsiteX2" fmla="*/ 3585206 w 3585206"/>
              <a:gd name="connsiteY2" fmla="*/ 19442 h 1763589"/>
              <a:gd name="connsiteX0" fmla="*/ 0 w 3585206"/>
              <a:gd name="connsiteY0" fmla="*/ 0 h 1763589"/>
              <a:gd name="connsiteX1" fmla="*/ 1510873 w 3585206"/>
              <a:gd name="connsiteY1" fmla="*/ 1763576 h 1763589"/>
              <a:gd name="connsiteX2" fmla="*/ 3585206 w 3585206"/>
              <a:gd name="connsiteY2" fmla="*/ 19442 h 1763589"/>
              <a:gd name="connsiteX0" fmla="*/ 0 w 2972810"/>
              <a:gd name="connsiteY0" fmla="*/ 0 h 1763589"/>
              <a:gd name="connsiteX1" fmla="*/ 1510873 w 2972810"/>
              <a:gd name="connsiteY1" fmla="*/ 1763576 h 1763589"/>
              <a:gd name="connsiteX2" fmla="*/ 2972810 w 2972810"/>
              <a:gd name="connsiteY2" fmla="*/ 24250 h 1763589"/>
              <a:gd name="connsiteX0" fmla="*/ 0 w 2964421"/>
              <a:gd name="connsiteY0" fmla="*/ 0 h 1763589"/>
              <a:gd name="connsiteX1" fmla="*/ 1510873 w 2964421"/>
              <a:gd name="connsiteY1" fmla="*/ 1763576 h 1763589"/>
              <a:gd name="connsiteX2" fmla="*/ 2964421 w 2964421"/>
              <a:gd name="connsiteY2" fmla="*/ 48289 h 1763589"/>
              <a:gd name="connsiteX0" fmla="*/ 0 w 2956032"/>
              <a:gd name="connsiteY0" fmla="*/ 0 h 1763589"/>
              <a:gd name="connsiteX1" fmla="*/ 1510873 w 2956032"/>
              <a:gd name="connsiteY1" fmla="*/ 1763576 h 1763589"/>
              <a:gd name="connsiteX2" fmla="*/ 2956032 w 2956032"/>
              <a:gd name="connsiteY2" fmla="*/ 14634 h 1763589"/>
              <a:gd name="connsiteX0" fmla="*/ 0 w 2956032"/>
              <a:gd name="connsiteY0" fmla="*/ 0 h 1768397"/>
              <a:gd name="connsiteX1" fmla="*/ 1393427 w 2956032"/>
              <a:gd name="connsiteY1" fmla="*/ 1768384 h 1768397"/>
              <a:gd name="connsiteX2" fmla="*/ 2956032 w 2956032"/>
              <a:gd name="connsiteY2" fmla="*/ 14634 h 1768397"/>
              <a:gd name="connsiteX0" fmla="*/ 0 w 2956032"/>
              <a:gd name="connsiteY0" fmla="*/ 0 h 1770249"/>
              <a:gd name="connsiteX1" fmla="*/ 1393427 w 2956032"/>
              <a:gd name="connsiteY1" fmla="*/ 1768384 h 1770249"/>
              <a:gd name="connsiteX2" fmla="*/ 2956032 w 2956032"/>
              <a:gd name="connsiteY2" fmla="*/ 14634 h 1770249"/>
              <a:gd name="connsiteX0" fmla="*/ 0 w 2956032"/>
              <a:gd name="connsiteY0" fmla="*/ 0 h 1770249"/>
              <a:gd name="connsiteX1" fmla="*/ 1393427 w 2956032"/>
              <a:gd name="connsiteY1" fmla="*/ 1768384 h 1770249"/>
              <a:gd name="connsiteX2" fmla="*/ 2956032 w 2956032"/>
              <a:gd name="connsiteY2" fmla="*/ 14634 h 1770249"/>
              <a:gd name="connsiteX0" fmla="*/ 0 w 2956032"/>
              <a:gd name="connsiteY0" fmla="*/ 0 h 1784210"/>
              <a:gd name="connsiteX1" fmla="*/ 1303537 w 2956032"/>
              <a:gd name="connsiteY1" fmla="*/ 1782359 h 1784210"/>
              <a:gd name="connsiteX2" fmla="*/ 2956032 w 2956032"/>
              <a:gd name="connsiteY2" fmla="*/ 14634 h 1784210"/>
              <a:gd name="connsiteX0" fmla="*/ 0 w 2956032"/>
              <a:gd name="connsiteY0" fmla="*/ 0 h 1679507"/>
              <a:gd name="connsiteX1" fmla="*/ 1472082 w 2956032"/>
              <a:gd name="connsiteY1" fmla="*/ 1677547 h 1679507"/>
              <a:gd name="connsiteX2" fmla="*/ 2956032 w 2956032"/>
              <a:gd name="connsiteY2" fmla="*/ 14634 h 1679507"/>
              <a:gd name="connsiteX0" fmla="*/ 0 w 2956032"/>
              <a:gd name="connsiteY0" fmla="*/ 0 h 1694676"/>
              <a:gd name="connsiteX1" fmla="*/ 1472082 w 2956032"/>
              <a:gd name="connsiteY1" fmla="*/ 1677547 h 1694676"/>
              <a:gd name="connsiteX2" fmla="*/ 2956032 w 2956032"/>
              <a:gd name="connsiteY2" fmla="*/ 14634 h 1694676"/>
              <a:gd name="connsiteX0" fmla="*/ 0 w 2956032"/>
              <a:gd name="connsiteY0" fmla="*/ 0 h 1694676"/>
              <a:gd name="connsiteX1" fmla="*/ 1472082 w 2956032"/>
              <a:gd name="connsiteY1" fmla="*/ 1677547 h 1694676"/>
              <a:gd name="connsiteX2" fmla="*/ 2956032 w 2956032"/>
              <a:gd name="connsiteY2" fmla="*/ 14634 h 1694676"/>
              <a:gd name="connsiteX0" fmla="*/ 0 w 2956032"/>
              <a:gd name="connsiteY0" fmla="*/ 0 h 1750115"/>
              <a:gd name="connsiteX1" fmla="*/ 1472082 w 2956032"/>
              <a:gd name="connsiteY1" fmla="*/ 1733447 h 1750115"/>
              <a:gd name="connsiteX2" fmla="*/ 2956032 w 2956032"/>
              <a:gd name="connsiteY2" fmla="*/ 14634 h 1750115"/>
              <a:gd name="connsiteX0" fmla="*/ 0 w 2956032"/>
              <a:gd name="connsiteY0" fmla="*/ 0 h 1742773"/>
              <a:gd name="connsiteX1" fmla="*/ 1472082 w 2956032"/>
              <a:gd name="connsiteY1" fmla="*/ 1733447 h 1742773"/>
              <a:gd name="connsiteX2" fmla="*/ 2956032 w 2956032"/>
              <a:gd name="connsiteY2" fmla="*/ 14634 h 1742773"/>
              <a:gd name="connsiteX0" fmla="*/ 0 w 2956032"/>
              <a:gd name="connsiteY0" fmla="*/ 0 h 1734375"/>
              <a:gd name="connsiteX1" fmla="*/ 1472082 w 2956032"/>
              <a:gd name="connsiteY1" fmla="*/ 1733447 h 1734375"/>
              <a:gd name="connsiteX2" fmla="*/ 2956032 w 2956032"/>
              <a:gd name="connsiteY2" fmla="*/ 14634 h 1734375"/>
              <a:gd name="connsiteX0" fmla="*/ 0 w 2956032"/>
              <a:gd name="connsiteY0" fmla="*/ 0 h 1733635"/>
              <a:gd name="connsiteX1" fmla="*/ 1472082 w 2956032"/>
              <a:gd name="connsiteY1" fmla="*/ 1733447 h 1733635"/>
              <a:gd name="connsiteX2" fmla="*/ 2956032 w 2956032"/>
              <a:gd name="connsiteY2" fmla="*/ 14634 h 1733635"/>
              <a:gd name="connsiteX0" fmla="*/ 0 w 2956032"/>
              <a:gd name="connsiteY0" fmla="*/ 0 h 1734125"/>
              <a:gd name="connsiteX1" fmla="*/ 1472082 w 2956032"/>
              <a:gd name="connsiteY1" fmla="*/ 1733447 h 1734125"/>
              <a:gd name="connsiteX2" fmla="*/ 2956032 w 2956032"/>
              <a:gd name="connsiteY2" fmla="*/ 14634 h 17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6032" h="1734125">
                <a:moveTo>
                  <a:pt x="0" y="0"/>
                </a:moveTo>
                <a:cubicBezTo>
                  <a:pt x="250439" y="924641"/>
                  <a:pt x="269848" y="1747932"/>
                  <a:pt x="1472082" y="1733447"/>
                </a:cubicBezTo>
                <a:cubicBezTo>
                  <a:pt x="2929291" y="1773643"/>
                  <a:pt x="2956032" y="14634"/>
                  <a:pt x="2956032" y="14634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7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1" grpId="1" animBg="1"/>
      <p:bldP spid="63" grpId="0" animBg="1"/>
      <p:bldP spid="63" grpId="1" animBg="1"/>
      <p:bldP spid="80" grpId="0"/>
      <p:bldP spid="80" grpId="1"/>
      <p:bldP spid="81" grpId="0"/>
      <p:bldP spid="81" grpId="1"/>
      <p:bldP spid="82" grpId="0"/>
      <p:bldP spid="82" grpId="1"/>
      <p:bldP spid="8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B47DC4-F89F-BF40-8F77-CC9CC9E7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Overfitting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4976-C2A9-A846-831C-0BD63E98A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 more data and see if your model still fits</a:t>
            </a:r>
          </a:p>
          <a:p>
            <a:r>
              <a:rPr lang="en-US" dirty="0"/>
              <a:t>Have a model selection criteria which punishes free parameters</a:t>
            </a:r>
          </a:p>
          <a:p>
            <a:pPr lvl="1"/>
            <a:r>
              <a:rPr lang="en-US" dirty="0"/>
              <a:t>Remember that models with more parameters are more “flexible” and can fit data better not because they’re theoretically explaining some phenomenon but because they’re being influenced by the </a:t>
            </a:r>
            <a:r>
              <a:rPr lang="en-US" b="1" dirty="0"/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161737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Utility Theory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Normative Model of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44066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St. Petersburg Paradox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How much would you pay to play the following game?</a:t>
            </a:r>
          </a:p>
          <a:p>
            <a:r>
              <a:rPr lang="en-US" dirty="0"/>
              <a:t>I flip a coin an indefinite number of times. If it’s heads you win, if tails you lose. With every flip of the coin, I double the pot.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061" y="1947893"/>
            <a:ext cx="5475736" cy="4106802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38200" y="4805363"/>
              <a:ext cx="5181600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3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s-IS" sz="2400" dirty="0"/>
                            <a:t>…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H/T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H/T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H/T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s-IS" sz="2400" dirty="0"/>
                            <a:t>…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H/T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s-IS" sz="2400" dirty="0"/>
                            <a:t>…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$$$$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5198"/>
                  </p:ext>
                </p:extLst>
              </p:nvPr>
            </p:nvGraphicFramePr>
            <p:xfrm>
              <a:off x="838200" y="4805363"/>
              <a:ext cx="5181600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3600"/>
                    <a:gridCol w="863600"/>
                    <a:gridCol w="863600"/>
                    <a:gridCol w="863600"/>
                    <a:gridCol w="863600"/>
                    <a:gridCol w="863600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$2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$4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$8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s-IS" sz="2400" dirty="0" smtClean="0"/>
                            <a:t>…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000" t="-10667" r="-1408" b="-2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H/T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H/T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H/T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s-IS" sz="2400" dirty="0" smtClean="0"/>
                            <a:t>…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H/T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total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$2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$6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$14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s-IS" sz="2400" dirty="0" smtClean="0"/>
                            <a:t>…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/>
                            <a:t>$$$$</a:t>
                          </a:r>
                          <a:endParaRPr 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Rounded Rectangular Callout 9"/>
          <p:cNvSpPr/>
          <p:nvPr/>
        </p:nvSpPr>
        <p:spPr>
          <a:xfrm flipH="1">
            <a:off x="7016259" y="1947892"/>
            <a:ext cx="1793631" cy="1576052"/>
          </a:xfrm>
          <a:prstGeom prst="wedgeRoundRectCallo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165730" y="2046616"/>
            <a:ext cx="1494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WOW! You’re on a roll, Cady! How much did you win?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9806349" y="2205098"/>
            <a:ext cx="1793631" cy="1318846"/>
          </a:xfrm>
          <a:prstGeom prst="wedgeRoundRectCallo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75985" y="2444262"/>
            <a:ext cx="1136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limit does not exist!!</a:t>
            </a:r>
          </a:p>
        </p:txBody>
      </p:sp>
    </p:spTree>
    <p:extLst>
      <p:ext uri="{BB962C8B-B14F-4D97-AF65-F5344CB8AC3E}">
        <p14:creationId xmlns:p14="http://schemas.microsoft.com/office/powerpoint/2010/main" val="30597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St. Petersburg Paradox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average expect earnings of a player is infinite!!!</a:t>
            </a:r>
          </a:p>
          <a:p>
            <a:r>
              <a:rPr lang="en-US" dirty="0"/>
              <a:t>BUT people are only willing to pay ~ $1 - $2 to play</a:t>
            </a:r>
          </a:p>
          <a:p>
            <a:r>
              <a:rPr lang="en-US" dirty="0"/>
              <a:t>Why?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061" y="1947893"/>
            <a:ext cx="5475736" cy="4106802"/>
          </a:xfrm>
        </p:spPr>
      </p:pic>
    </p:spTree>
    <p:extLst>
      <p:ext uri="{BB962C8B-B14F-4D97-AF65-F5344CB8AC3E}">
        <p14:creationId xmlns:p14="http://schemas.microsoft.com/office/powerpoint/2010/main" val="151750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Utility?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Utility: Value, benefit, function, profit, use of something</a:t>
            </a:r>
          </a:p>
          <a:p>
            <a:pPr lvl="1"/>
            <a:r>
              <a:rPr lang="en-US" dirty="0"/>
              <a:t>Not absolute! (Context dependent)</a:t>
            </a:r>
          </a:p>
          <a:p>
            <a:r>
              <a:rPr lang="en-US" dirty="0"/>
              <a:t>Decisions are ultimately about comparing utility</a:t>
            </a:r>
          </a:p>
          <a:p>
            <a:r>
              <a:rPr lang="en-US" dirty="0"/>
              <a:t>The Expected Utility is the average Utility you expect to get if you made that choice many many times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4094"/>
            <a:ext cx="5181600" cy="3454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12580"/>
            <a:ext cx="1954602" cy="21774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113" y="2912580"/>
            <a:ext cx="2434087" cy="223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6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Utility Theory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Utility: the benefit from consuming a product </a:t>
            </a:r>
          </a:p>
          <a:p>
            <a:r>
              <a:rPr lang="en-US" dirty="0"/>
              <a:t>Diminishing </a:t>
            </a:r>
            <a:r>
              <a:rPr lang="en-US"/>
              <a:t>Marginal Utility:</a:t>
            </a:r>
            <a:endParaRPr lang="en-US" dirty="0"/>
          </a:p>
          <a:p>
            <a:pPr lvl="1"/>
            <a:r>
              <a:rPr lang="en-US" dirty="0"/>
              <a:t>$ 1,000,001 - $1 M &lt; $2 - $1</a:t>
            </a:r>
          </a:p>
          <a:p>
            <a:r>
              <a:rPr lang="en-US" dirty="0"/>
              <a:t>The value of a lottery can be calculated by multiplying the probability of winning to the SUBJECTIVE value (utility) gained</a:t>
            </a:r>
          </a:p>
          <a:p>
            <a:r>
              <a:rPr lang="en-US" dirty="0"/>
              <a:t>Choose the lottery with the highest expected utility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0" b="45829"/>
          <a:stretch/>
        </p:blipFill>
        <p:spPr>
          <a:xfrm>
            <a:off x="6172200" y="1690688"/>
            <a:ext cx="5451230" cy="397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9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Expected Utility Theory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normative model of decision-making (what you </a:t>
            </a:r>
            <a:r>
              <a:rPr lang="en-US" i="1" dirty="0"/>
              <a:t>ought</a:t>
            </a:r>
            <a:r>
              <a:rPr lang="en-US" dirty="0"/>
              <a:t> to do)</a:t>
            </a:r>
          </a:p>
          <a:p>
            <a:r>
              <a:rPr lang="en-US" dirty="0"/>
              <a:t>When observing how people act, there seems to be a few anomalies which cannot be explained by Expected Utility theory:</a:t>
            </a:r>
          </a:p>
          <a:p>
            <a:pPr lvl="1"/>
            <a:r>
              <a:rPr lang="en-US" dirty="0"/>
              <a:t>Framing Effects: Losses &amp; Gains are not psychologically equivalent</a:t>
            </a:r>
          </a:p>
          <a:p>
            <a:pPr lvl="1"/>
            <a:r>
              <a:rPr lang="en-US" dirty="0"/>
              <a:t>Probability Weighting: Humans do not treat probabilities objectively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 Theory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Model of Risk Preferences</a:t>
            </a:r>
          </a:p>
        </p:txBody>
      </p:sp>
    </p:spTree>
    <p:extLst>
      <p:ext uri="{BB962C8B-B14F-4D97-AF65-F5344CB8AC3E}">
        <p14:creationId xmlns:p14="http://schemas.microsoft.com/office/powerpoint/2010/main" val="662589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Fourfold Pattern of Risk Preferences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/>
          </p:nvPr>
        </p:nvGraphicFramePr>
        <p:xfrm>
          <a:off x="1213338" y="1846262"/>
          <a:ext cx="10037253" cy="4026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45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5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5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2333">
                <a:tc>
                  <a:txBody>
                    <a:bodyPr/>
                    <a:lstStyle/>
                    <a:p>
                      <a:pPr algn="l"/>
                      <a:endParaRPr lang="en-US" sz="2800" dirty="0"/>
                    </a:p>
                  </a:txBody>
                  <a:tcPr anchor="ctr">
                    <a:solidFill>
                      <a:srgbClr val="FF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Losses</a:t>
                      </a:r>
                    </a:p>
                  </a:txBody>
                  <a:tcPr anchor="ctr">
                    <a:solidFill>
                      <a:srgbClr val="FF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Gains</a:t>
                      </a:r>
                    </a:p>
                  </a:txBody>
                  <a:tcPr anchor="ctr">
                    <a:solidFill>
                      <a:srgbClr val="FFB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2333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High Probability</a:t>
                      </a:r>
                    </a:p>
                  </a:txBody>
                  <a:tcPr anchor="ctr">
                    <a:solidFill>
                      <a:srgbClr val="FF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Risk Seeking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E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Risk Averse</a:t>
                      </a:r>
                    </a:p>
                  </a:txBody>
                  <a:tcPr anchor="ctr">
                    <a:solidFill>
                      <a:srgbClr val="FFD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2333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Low Probability</a:t>
                      </a:r>
                    </a:p>
                  </a:txBody>
                  <a:tcPr anchor="ctr">
                    <a:solidFill>
                      <a:srgbClr val="FFB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Risk Averse</a:t>
                      </a:r>
                    </a:p>
                  </a:txBody>
                  <a:tcPr anchor="ctr">
                    <a:solidFill>
                      <a:srgbClr val="FFD4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Risk Seeking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E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79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Kahneman</a:t>
            </a:r>
            <a:r>
              <a:rPr lang="en-US" dirty="0"/>
              <a:t> &amp; </a:t>
            </a:r>
            <a:r>
              <a:rPr lang="en-US" dirty="0" err="1"/>
              <a:t>Tversky</a:t>
            </a:r>
            <a:r>
              <a:rPr lang="en-US" dirty="0"/>
              <a:t> 1979; 1992</a:t>
            </a:r>
          </a:p>
          <a:p>
            <a:r>
              <a:rPr lang="en-US" dirty="0"/>
              <a:t>Won the Nobel prize in Economics (2002)</a:t>
            </a:r>
          </a:p>
          <a:p>
            <a:r>
              <a:rPr lang="en-US" dirty="0"/>
              <a:t>Mathematical Descriptive Model of Human Choice</a:t>
            </a:r>
          </a:p>
          <a:p>
            <a:r>
              <a:rPr lang="en-US" dirty="0"/>
              <a:t>Contributions:</a:t>
            </a:r>
          </a:p>
          <a:p>
            <a:pPr lvl="1"/>
            <a:r>
              <a:rPr lang="en-US" dirty="0"/>
              <a:t>Shape of Utility Function (Framing)</a:t>
            </a:r>
          </a:p>
          <a:p>
            <a:pPr lvl="1"/>
            <a:r>
              <a:rPr lang="en-US" dirty="0"/>
              <a:t>Probability weighting</a:t>
            </a:r>
          </a:p>
        </p:txBody>
      </p:sp>
    </p:spTree>
    <p:extLst>
      <p:ext uri="{BB962C8B-B14F-4D97-AF65-F5344CB8AC3E}">
        <p14:creationId xmlns:p14="http://schemas.microsoft.com/office/powerpoint/2010/main" val="213034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H="1">
            <a:off x="6536366" y="3438942"/>
            <a:ext cx="773" cy="5323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056755" y="2975082"/>
            <a:ext cx="1" cy="99617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577145" y="2573638"/>
            <a:ext cx="3717" cy="139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6544429" y="3438942"/>
            <a:ext cx="773" cy="5323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61567" y="2951863"/>
            <a:ext cx="1" cy="99617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7574513" y="2573638"/>
            <a:ext cx="3717" cy="139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4973650" y="3971258"/>
            <a:ext cx="777" cy="21513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319338" y="4003008"/>
            <a:ext cx="775" cy="161204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5665801" y="4003008"/>
            <a:ext cx="3717" cy="945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8832038" y="2149969"/>
            <a:ext cx="2116434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279" y="411505"/>
            <a:ext cx="10515600" cy="1325563"/>
          </a:xfrm>
        </p:spPr>
        <p:txBody>
          <a:bodyPr/>
          <a:lstStyle/>
          <a:p>
            <a:r>
              <a:rPr lang="en-US" dirty="0"/>
              <a:t>Prospect Theory</a:t>
            </a:r>
          </a:p>
        </p:txBody>
      </p:sp>
      <p:sp>
        <p:nvSpPr>
          <p:cNvPr id="17" name="Freeform 16"/>
          <p:cNvSpPr/>
          <p:nvPr/>
        </p:nvSpPr>
        <p:spPr>
          <a:xfrm>
            <a:off x="6020789" y="2258375"/>
            <a:ext cx="2303814" cy="1731735"/>
          </a:xfrm>
          <a:custGeom>
            <a:avLst/>
            <a:gdLst>
              <a:gd name="connsiteX0" fmla="*/ 0 w 3408218"/>
              <a:gd name="connsiteY0" fmla="*/ 1199408 h 1199408"/>
              <a:gd name="connsiteX1" fmla="*/ 1401289 w 3408218"/>
              <a:gd name="connsiteY1" fmla="*/ 190005 h 1199408"/>
              <a:gd name="connsiteX2" fmla="*/ 3408218 w 3408218"/>
              <a:gd name="connsiteY2" fmla="*/ 0 h 1199408"/>
              <a:gd name="connsiteX0" fmla="*/ 0 w 2584064"/>
              <a:gd name="connsiteY0" fmla="*/ 1161168 h 1161168"/>
              <a:gd name="connsiteX1" fmla="*/ 1401289 w 2584064"/>
              <a:gd name="connsiteY1" fmla="*/ 151765 h 1161168"/>
              <a:gd name="connsiteX2" fmla="*/ 2584064 w 2584064"/>
              <a:gd name="connsiteY2" fmla="*/ 0 h 1161168"/>
              <a:gd name="connsiteX0" fmla="*/ 0 w 1871515"/>
              <a:gd name="connsiteY0" fmla="*/ 1122928 h 1122928"/>
              <a:gd name="connsiteX1" fmla="*/ 1401289 w 1871515"/>
              <a:gd name="connsiteY1" fmla="*/ 113525 h 1122928"/>
              <a:gd name="connsiteX2" fmla="*/ 1871515 w 1871515"/>
              <a:gd name="connsiteY2" fmla="*/ 0 h 1122928"/>
              <a:gd name="connsiteX0" fmla="*/ 0 w 1871515"/>
              <a:gd name="connsiteY0" fmla="*/ 1122928 h 1122928"/>
              <a:gd name="connsiteX1" fmla="*/ 757420 w 1871515"/>
              <a:gd name="connsiteY1" fmla="*/ 488277 h 1122928"/>
              <a:gd name="connsiteX2" fmla="*/ 1871515 w 1871515"/>
              <a:gd name="connsiteY2" fmla="*/ 0 h 1122928"/>
              <a:gd name="connsiteX0" fmla="*/ 0 w 1674062"/>
              <a:gd name="connsiteY0" fmla="*/ 1115280 h 1115280"/>
              <a:gd name="connsiteX1" fmla="*/ 757420 w 1674062"/>
              <a:gd name="connsiteY1" fmla="*/ 480629 h 1115280"/>
              <a:gd name="connsiteX2" fmla="*/ 1674062 w 1674062"/>
              <a:gd name="connsiteY2" fmla="*/ 0 h 1115280"/>
              <a:gd name="connsiteX0" fmla="*/ 0 w 1674062"/>
              <a:gd name="connsiteY0" fmla="*/ 1115280 h 1115280"/>
              <a:gd name="connsiteX1" fmla="*/ 671571 w 1674062"/>
              <a:gd name="connsiteY1" fmla="*/ 503573 h 1115280"/>
              <a:gd name="connsiteX2" fmla="*/ 1674062 w 1674062"/>
              <a:gd name="connsiteY2" fmla="*/ 0 h 1115280"/>
              <a:gd name="connsiteX0" fmla="*/ 0 w 1665477"/>
              <a:gd name="connsiteY0" fmla="*/ 1115280 h 1115280"/>
              <a:gd name="connsiteX1" fmla="*/ 662986 w 1665477"/>
              <a:gd name="connsiteY1" fmla="*/ 503573 h 1115280"/>
              <a:gd name="connsiteX2" fmla="*/ 1665477 w 1665477"/>
              <a:gd name="connsiteY2" fmla="*/ 0 h 1115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5477" h="1115280">
                <a:moveTo>
                  <a:pt x="0" y="1115280"/>
                </a:moveTo>
                <a:cubicBezTo>
                  <a:pt x="416626" y="710529"/>
                  <a:pt x="385407" y="689453"/>
                  <a:pt x="662986" y="503573"/>
                </a:cubicBezTo>
                <a:cubicBezTo>
                  <a:pt x="940566" y="317693"/>
                  <a:pt x="1350781" y="71252"/>
                  <a:pt x="1665477" y="0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3892823" y="3946662"/>
            <a:ext cx="2123154" cy="2727074"/>
          </a:xfrm>
          <a:custGeom>
            <a:avLst/>
            <a:gdLst>
              <a:gd name="connsiteX0" fmla="*/ 3301341 w 3301341"/>
              <a:gd name="connsiteY0" fmla="*/ 0 h 2805459"/>
              <a:gd name="connsiteX1" fmla="*/ 2090058 w 3301341"/>
              <a:gd name="connsiteY1" fmla="*/ 2398816 h 2805459"/>
              <a:gd name="connsiteX2" fmla="*/ 0 w 3301341"/>
              <a:gd name="connsiteY2" fmla="*/ 2802577 h 2805459"/>
              <a:gd name="connsiteX0" fmla="*/ 2229101 w 2229101"/>
              <a:gd name="connsiteY0" fmla="*/ 0 h 2794660"/>
              <a:gd name="connsiteX1" fmla="*/ 1017818 w 2229101"/>
              <a:gd name="connsiteY1" fmla="*/ 2398816 h 2794660"/>
              <a:gd name="connsiteX2" fmla="*/ 0 w 2229101"/>
              <a:gd name="connsiteY2" fmla="*/ 2790427 h 2794660"/>
              <a:gd name="connsiteX0" fmla="*/ 2229101 w 2229101"/>
              <a:gd name="connsiteY0" fmla="*/ 0 h 2790427"/>
              <a:gd name="connsiteX1" fmla="*/ 1142498 w 2229101"/>
              <a:gd name="connsiteY1" fmla="*/ 2265153 h 2790427"/>
              <a:gd name="connsiteX2" fmla="*/ 0 w 2229101"/>
              <a:gd name="connsiteY2" fmla="*/ 2790427 h 2790427"/>
              <a:gd name="connsiteX0" fmla="*/ 2229101 w 2229101"/>
              <a:gd name="connsiteY0" fmla="*/ 0 h 2790427"/>
              <a:gd name="connsiteX1" fmla="*/ 1217305 w 2229101"/>
              <a:gd name="connsiteY1" fmla="*/ 2289456 h 2790427"/>
              <a:gd name="connsiteX2" fmla="*/ 0 w 2229101"/>
              <a:gd name="connsiteY2" fmla="*/ 2790427 h 2790427"/>
              <a:gd name="connsiteX0" fmla="*/ 2229101 w 2229101"/>
              <a:gd name="connsiteY0" fmla="*/ 0 h 2790427"/>
              <a:gd name="connsiteX1" fmla="*/ 1292113 w 2229101"/>
              <a:gd name="connsiteY1" fmla="*/ 2070735 h 2790427"/>
              <a:gd name="connsiteX2" fmla="*/ 0 w 2229101"/>
              <a:gd name="connsiteY2" fmla="*/ 2790427 h 2790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9101" h="2790427">
                <a:moveTo>
                  <a:pt x="2229101" y="0"/>
                </a:moveTo>
                <a:cubicBezTo>
                  <a:pt x="1898571" y="965860"/>
                  <a:pt x="1663630" y="1605664"/>
                  <a:pt x="1292113" y="2070735"/>
                </a:cubicBezTo>
                <a:cubicBezTo>
                  <a:pt x="920596" y="2535806"/>
                  <a:pt x="0" y="2790427"/>
                  <a:pt x="0" y="2790427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5985129" y="2005108"/>
            <a:ext cx="26246" cy="43242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989754" y="3971258"/>
            <a:ext cx="4085467" cy="17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94333" y="1636941"/>
            <a:ext cx="85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Utility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039" y="3761996"/>
            <a:ext cx="85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Gains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30907" y="3761996"/>
            <a:ext cx="85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Losses</a:t>
            </a:r>
          </a:p>
        </p:txBody>
      </p:sp>
      <p:cxnSp>
        <p:nvCxnSpPr>
          <p:cNvPr id="88" name="Straight Connector 87"/>
          <p:cNvCxnSpPr/>
          <p:nvPr/>
        </p:nvCxnSpPr>
        <p:spPr>
          <a:xfrm flipH="1">
            <a:off x="7585674" y="2583534"/>
            <a:ext cx="3717" cy="139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1026279" y="2334615"/>
            <a:ext cx="777" cy="21513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1368638" y="2334615"/>
            <a:ext cx="775" cy="161204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367865" y="3946662"/>
            <a:ext cx="3717" cy="945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66255" y="4485981"/>
            <a:ext cx="2116434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0" y="6294873"/>
                <a:ext cx="68713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𝑈</m:t>
                      </m:r>
                      <m:d>
                        <m:d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CA" sz="3200" i="1">
                              <a:latin typeface="Cambria Math" charset="0"/>
                            </a:rPr>
                            <m:t>6000</m:t>
                          </m:r>
                        </m:e>
                      </m:d>
                      <m:r>
                        <a:rPr lang="en-CA" sz="3200" b="0" i="1" smtClean="0">
                          <a:latin typeface="Cambria Math" charset="0"/>
                        </a:rPr>
                        <m:t>&gt;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𝑈</m:t>
                      </m:r>
                      <m:d>
                        <m:d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CA" sz="3200" i="1">
                              <a:latin typeface="Cambria Math" charset="0"/>
                            </a:rPr>
                            <m:t>4000</m:t>
                          </m:r>
                        </m:e>
                      </m:d>
                      <m:r>
                        <a:rPr lang="en-CA" sz="3200" i="1">
                          <a:latin typeface="Cambria Math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𝑈</m:t>
                      </m:r>
                      <m:r>
                        <a:rPr lang="en-CA" sz="3200" i="1">
                          <a:latin typeface="Cambria Math" charset="0"/>
                        </a:rPr>
                        <m:t>(−2000)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94873"/>
                <a:ext cx="6871305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346010" y="5264793"/>
                <a:ext cx="583005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𝑈</m:t>
                      </m:r>
                      <m:d>
                        <m:d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latin typeface="Cambria Math" charset="0"/>
                            </a:rPr>
                            <m:t>6000</m:t>
                          </m:r>
                        </m:e>
                      </m:d>
                      <m:r>
                        <a:rPr lang="en-CA" sz="3200" b="0" i="1" smtClean="0">
                          <a:latin typeface="Cambria Math" charset="0"/>
                        </a:rPr>
                        <m:t>&lt;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𝑈</m:t>
                      </m:r>
                      <m:d>
                        <m:d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latin typeface="Cambria Math" charset="0"/>
                            </a:rPr>
                            <m:t>4000</m:t>
                          </m:r>
                        </m:e>
                      </m:d>
                      <m:r>
                        <a:rPr lang="en-CA" sz="3200" b="0" i="1" smtClean="0">
                          <a:latin typeface="Cambria Math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charset="0"/>
                        </a:rPr>
                        <m:t>𝑈</m:t>
                      </m:r>
                      <m:r>
                        <a:rPr lang="en-CA" sz="3200" b="0" i="1" smtClean="0">
                          <a:latin typeface="Cambria Math" charset="0"/>
                        </a:rPr>
                        <m:t>(2000)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010" y="5264793"/>
                <a:ext cx="5830058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75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833 L 0.25026 -0.209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39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20768 -0.0592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78" y="-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22222E-6 L 0.22578 -0.0615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89" y="-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Weighting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Probabilities are not treated objectively</a:t>
            </a:r>
          </a:p>
          <a:p>
            <a:r>
              <a:rPr lang="en-US" dirty="0"/>
              <a:t>Extreme events tend to be rare</a:t>
            </a:r>
          </a:p>
          <a:p>
            <a:r>
              <a:rPr lang="en-US" dirty="0"/>
              <a:t>Related to availability: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What’s more common, dying in a car crash or dying of cancer?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Extremity of event related to perceived probability</a:t>
            </a:r>
          </a:p>
          <a:p>
            <a:pPr lvl="1"/>
            <a:r>
              <a:rPr lang="en-US" dirty="0"/>
              <a:t>Extreme events tend to be perceived as more common</a:t>
            </a:r>
          </a:p>
          <a:p>
            <a:pPr lvl="1"/>
            <a:r>
              <a:rPr lang="en-US" dirty="0"/>
              <a:t>Mundane events tend to be perceived as less common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67" y="1825625"/>
            <a:ext cx="4648865" cy="4351338"/>
          </a:xfrm>
        </p:spPr>
      </p:pic>
    </p:spTree>
    <p:extLst>
      <p:ext uri="{BB962C8B-B14F-4D97-AF65-F5344CB8AC3E}">
        <p14:creationId xmlns:p14="http://schemas.microsoft.com/office/powerpoint/2010/main" val="74045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Compute the utility of each option</a:t>
                </a:r>
              </a:p>
              <a:p>
                <a:r>
                  <a:rPr lang="en-US" dirty="0"/>
                  <a:t>Compute the subjective probability of each outcome</a:t>
                </a:r>
              </a:p>
              <a:p>
                <a:r>
                  <a:rPr lang="en-US" dirty="0"/>
                  <a:t>Sum the products across outcomes for each prospect</a:t>
                </a:r>
              </a:p>
              <a:p>
                <a:r>
                  <a:rPr lang="en-US" dirty="0"/>
                  <a:t>Compare the two prospects: sign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𝑈</m:t>
                    </m:r>
                  </m:oMath>
                </a14:m>
                <a:r>
                  <a:rPr lang="en-US" dirty="0"/>
                  <a:t> will tell you what you should pick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2118" t="-2241" r="-3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/>
              </p:cNvGraphicFramePr>
              <p:nvPr>
                <p:extLst/>
              </p:nvPr>
            </p:nvGraphicFramePr>
            <p:xfrm>
              <a:off x="6230153" y="2053506"/>
              <a:ext cx="5065694" cy="389557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5328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328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73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A</a:t>
                          </a:r>
                        </a:p>
                      </a:txBody>
                      <a:tcPr anchor="ctr">
                        <a:lnB w="38100" cmpd="sng">
                          <a:noFill/>
                        </a:lnB>
                        <a:solidFill>
                          <a:srgbClr val="FFB7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B</a:t>
                          </a:r>
                        </a:p>
                      </a:txBody>
                      <a:tcPr anchor="ctr">
                        <a:solidFill>
                          <a:srgbClr val="FFB7D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3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</a:rPr>
                            <a:t>$1</a:t>
                          </a:r>
                          <a:r>
                            <a:rPr lang="en-US" sz="2800" b="0" baseline="0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</a:rPr>
                            <a:t> with 0.01%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5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/>
                            <a:t>$1 with 100%</a:t>
                          </a:r>
                          <a:endParaRPr lang="en-US" sz="28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D4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3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</a:rPr>
                            <a:t>$0 with 99.99%</a:t>
                          </a:r>
                        </a:p>
                      </a:txBody>
                      <a:tcPr anchor="ctr">
                        <a:lnT w="12700" cmpd="sng">
                          <a:noFill/>
                        </a:lnT>
                        <a:lnB w="12700" cmpd="sng">
                          <a:noFill/>
                        </a:lnB>
                        <a:solidFill>
                          <a:srgbClr val="FFD4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E5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389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0.01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∗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𝑀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+ 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99.99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∗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𝑈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(0)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mpd="sng">
                          <a:noFill/>
                        </a:lnT>
                        <a:solidFill>
                          <a:srgbClr val="FFE5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100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∗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D4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84345023"/>
                  </p:ext>
                </p:extLst>
              </p:nvPr>
            </p:nvGraphicFramePr>
            <p:xfrm>
              <a:off x="6230153" y="2053506"/>
              <a:ext cx="5065694" cy="389557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532847"/>
                    <a:gridCol w="2532847"/>
                  </a:tblGrid>
                  <a:tr h="973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/>
                            <a:t>A</a:t>
                          </a:r>
                          <a:endParaRPr lang="en-US" sz="2800" dirty="0"/>
                        </a:p>
                      </a:txBody>
                      <a:tcPr anchor="ctr">
                        <a:lnB w="38100" cmpd="sng">
                          <a:noFill/>
                        </a:lnB>
                        <a:solidFill>
                          <a:srgbClr val="FFB7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/>
                            <a:t>B</a:t>
                          </a:r>
                          <a:endParaRPr lang="en-US" sz="2800" dirty="0"/>
                        </a:p>
                      </a:txBody>
                      <a:tcPr anchor="ctr">
                        <a:solidFill>
                          <a:srgbClr val="FFB7D1"/>
                        </a:solidFill>
                      </a:tcPr>
                    </a:tc>
                  </a:tr>
                  <a:tr h="973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</a:rPr>
                            <a:t>$1</a:t>
                          </a:r>
                          <a:r>
                            <a:rPr lang="en-US" sz="2800" b="0" baseline="0" dirty="0" smtClean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</a:rPr>
                            <a:t> with 0.01%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E5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/>
                            <a:t>$1 with 100%</a:t>
                          </a:r>
                          <a:endParaRPr lang="en-US" sz="28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D4E0"/>
                        </a:solidFill>
                      </a:tcPr>
                    </a:tc>
                  </a:tr>
                  <a:tr h="973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</a:rPr>
                            <a:t>$0 with 99.99%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mpd="sng">
                          <a:noFill/>
                        </a:lnT>
                        <a:lnB w="12700" cmpd="sng">
                          <a:noFill/>
                        </a:lnB>
                        <a:solidFill>
                          <a:srgbClr val="FFD4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E5EF"/>
                        </a:solidFill>
                      </a:tcPr>
                    </a:tc>
                  </a:tr>
                  <a:tr h="9738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mpd="sng">
                          <a:noFill/>
                        </a:lnT>
                        <a:blipFill rotWithShape="0">
                          <a:blip r:embed="rId3"/>
                          <a:stretch>
                            <a:fillRect l="-481" t="-300625" r="-100962" b="-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723" t="-300625" r="-1205" b="-375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87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Compare the two prospects: sign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𝑈</m:t>
                    </m:r>
                  </m:oMath>
                </a14:m>
                <a:r>
                  <a:rPr lang="en-US" dirty="0"/>
                  <a:t> will tell you what you should pick</a:t>
                </a:r>
              </a:p>
              <a:p>
                <a:r>
                  <a:rPr lang="en-US" dirty="0"/>
                  <a:t>Choice as a psychometric function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𝑈</m:t>
                    </m:r>
                  </m:oMath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r>
                  <a:rPr lang="en-US" dirty="0"/>
                  <a:t>The slope of this function (controlled by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dirty="0"/>
                  <a:t>) determines how </a:t>
                </a:r>
                <a:r>
                  <a:rPr lang="en-US" i="1" dirty="0"/>
                  <a:t>sensitive</a:t>
                </a:r>
                <a:r>
                  <a:rPr lang="en-US" dirty="0"/>
                  <a:t> someone is to changes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𝑈</m:t>
                    </m:r>
                  </m:oMath>
                </a14:m>
                <a:endParaRPr lang="en-US" b="0" dirty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2118" t="-2241" r="-3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99312"/>
            <a:ext cx="5181600" cy="4003963"/>
          </a:xfrm>
        </p:spPr>
      </p:pic>
    </p:spTree>
    <p:extLst>
      <p:ext uri="{BB962C8B-B14F-4D97-AF65-F5344CB8AC3E}">
        <p14:creationId xmlns:p14="http://schemas.microsoft.com/office/powerpoint/2010/main" val="221816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9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vs. Probability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Probability: is the plausibility of a future event (i.e. Will this happen?)</a:t>
            </a:r>
          </a:p>
          <a:p>
            <a:r>
              <a:rPr lang="en-US" dirty="0"/>
              <a:t>Likelihood: is the plausibility of a parameterization given observed data  (i.e. Do these parameters explain what happened?)</a:t>
            </a:r>
          </a:p>
          <a:p>
            <a:r>
              <a:rPr lang="en-US" dirty="0"/>
              <a:t>Maximum likelihood: find the parameters that maximize the likelihood</a:t>
            </a:r>
          </a:p>
          <a:p>
            <a:r>
              <a:rPr lang="en-US" dirty="0"/>
              <a:t>Likelihood would be the product of the model’s predicted probability of every event  </a:t>
            </a:r>
          </a:p>
        </p:txBody>
      </p:sp>
    </p:spTree>
    <p:extLst>
      <p:ext uri="{BB962C8B-B14F-4D97-AF65-F5344CB8AC3E}">
        <p14:creationId xmlns:p14="http://schemas.microsoft.com/office/powerpoint/2010/main" val="1395679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practice however, people tend to use the log of the likelihood because it facilitates the derivation of the log Likelihood function</a:t>
                </a:r>
              </a:p>
              <a:p>
                <a:r>
                  <a:rPr lang="en-US" dirty="0"/>
                  <a:t>Since the log of a product is equal to the sum of the logs, we can just estimate the probability for each observation individually and then sum them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𝐶𝐴𝐵𝐼𝑁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Also here probabilities take the values [0, 1],  which means higher values will get you closer to 0! (and the values are all negative)</a:t>
                </a:r>
              </a:p>
              <a:p>
                <a:r>
                  <a:rPr lang="en-US" dirty="0"/>
                  <a:t>So what we want to do is to MINIMIZE the negative log Likelihood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40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2AE3-D5C6-3F49-9C33-C0D63D5A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0A0F6-D115-EA44-9F39-762B1506D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689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2D5AA8-932F-B143-AAC9-660061FA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DE9924-0497-BE4F-9614-91DC461B29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Does wearing Designer shirts makes you place more utility on larger sums of money?</a:t>
            </a:r>
          </a:p>
          <a:p>
            <a:r>
              <a:rPr lang="en-US" dirty="0"/>
              <a:t>Condition 1: Designer Shirt</a:t>
            </a:r>
          </a:p>
          <a:p>
            <a:r>
              <a:rPr lang="en-US" dirty="0"/>
              <a:t>Condition 2: Cheap Shirt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5799A7-F6C1-CF43-A4ED-179AF6CDB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438" t="12472" r="13708" b="17078"/>
          <a:stretch/>
        </p:blipFill>
        <p:spPr>
          <a:xfrm>
            <a:off x="9050694" y="1272748"/>
            <a:ext cx="2875454" cy="2780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5814F6-69F1-834A-8CA0-FE6BFBE842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4535" y="3884177"/>
            <a:ext cx="2929215" cy="2659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064407-59B3-D445-8E5F-055D4F74445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44548" y="1441842"/>
            <a:ext cx="2442335" cy="244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82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4C402D-C875-314E-985D-4D3740CA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4A673692-4F04-AA43-BFA9-0984169BE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11"/>
          <a:stretch/>
        </p:blipFill>
        <p:spPr>
          <a:xfrm>
            <a:off x="1047750" y="2306509"/>
            <a:ext cx="10096500" cy="2235584"/>
          </a:xfrm>
        </p:spPr>
      </p:pic>
    </p:spTree>
    <p:extLst>
      <p:ext uri="{BB962C8B-B14F-4D97-AF65-F5344CB8AC3E}">
        <p14:creationId xmlns:p14="http://schemas.microsoft.com/office/powerpoint/2010/main" val="526791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E453712-55BF-C94A-AAC4-7AA10EAF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8F577-A006-694C-A0EF-57C73B002C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P_Gamble</a:t>
            </a:r>
            <a:r>
              <a:rPr lang="en-US" dirty="0"/>
              <a:t>: probability of the gamble</a:t>
            </a:r>
          </a:p>
          <a:p>
            <a:r>
              <a:rPr lang="en-US" dirty="0" err="1"/>
              <a:t>A_Gamble</a:t>
            </a:r>
            <a:r>
              <a:rPr lang="en-US" dirty="0"/>
              <a:t>: Amount of $ for the Gamble</a:t>
            </a:r>
          </a:p>
          <a:p>
            <a:r>
              <a:rPr lang="en-US" dirty="0" err="1"/>
              <a:t>A_Certain</a:t>
            </a:r>
            <a:r>
              <a:rPr lang="en-US" dirty="0"/>
              <a:t>: Amount of $ for the certain option</a:t>
            </a:r>
          </a:p>
          <a:p>
            <a:r>
              <a:rPr lang="en-US" dirty="0"/>
              <a:t>PID: Participant ID</a:t>
            </a:r>
          </a:p>
          <a:p>
            <a:r>
              <a:rPr lang="en-US" dirty="0"/>
              <a:t>Condition: Experimental condition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0BA5C12-A172-094F-852C-5D31CD72D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72204"/>
            <a:ext cx="5181600" cy="3458179"/>
          </a:xfrm>
        </p:spPr>
      </p:pic>
    </p:spTree>
    <p:extLst>
      <p:ext uri="{BB962C8B-B14F-4D97-AF65-F5344CB8AC3E}">
        <p14:creationId xmlns:p14="http://schemas.microsoft.com/office/powerpoint/2010/main" val="3671328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88A9D-0F8E-444F-AB43-AFE81869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EBD03-1A15-5A49-893A-088E17703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kcastanheira</a:t>
            </a:r>
            <a:r>
              <a:rPr lang="en-US" dirty="0"/>
              <a:t>/</a:t>
            </a:r>
            <a:r>
              <a:rPr lang="en-US" dirty="0" err="1"/>
              <a:t>Cog_modelling_tutorial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73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1396</Words>
  <Application>Microsoft Macintosh PowerPoint</Application>
  <PresentationFormat>Widescreen</PresentationFormat>
  <Paragraphs>189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Cognitive Modelling Workshop</vt:lpstr>
      <vt:lpstr>What is a computational model?</vt:lpstr>
      <vt:lpstr>Why use Computational Models?</vt:lpstr>
      <vt:lpstr>Brain/Machine</vt:lpstr>
      <vt:lpstr>Marr’s Three levels of analysis</vt:lpstr>
      <vt:lpstr>Steps to making a Computational Model</vt:lpstr>
      <vt:lpstr>Parameter</vt:lpstr>
      <vt:lpstr>Limitations &amp; Concerns </vt:lpstr>
      <vt:lpstr>Occam’s Razor</vt:lpstr>
      <vt:lpstr>Overfitting</vt:lpstr>
      <vt:lpstr>Avoiding Overfitting</vt:lpstr>
      <vt:lpstr>Expected Utility Theory</vt:lpstr>
      <vt:lpstr>St. Petersburg Paradox</vt:lpstr>
      <vt:lpstr>St. Petersburg Paradox</vt:lpstr>
      <vt:lpstr>What is Utility?</vt:lpstr>
      <vt:lpstr>Expected Utility Theory</vt:lpstr>
      <vt:lpstr>Problems with Expected Utility Theory</vt:lpstr>
      <vt:lpstr>Prospect Theory</vt:lpstr>
      <vt:lpstr>Fourfold Pattern of Risk Preferences</vt:lpstr>
      <vt:lpstr>Prospect theory</vt:lpstr>
      <vt:lpstr>Prospect Theory</vt:lpstr>
      <vt:lpstr>Probability Weighting Function</vt:lpstr>
      <vt:lpstr>Prospect Theory</vt:lpstr>
      <vt:lpstr>Choice</vt:lpstr>
      <vt:lpstr>Maximum Likelihood Estimation</vt:lpstr>
      <vt:lpstr>Likelihood vs. Probability</vt:lpstr>
      <vt:lpstr>Log Likelihood</vt:lpstr>
      <vt:lpstr>Data Analysis</vt:lpstr>
      <vt:lpstr>Hypothesis</vt:lpstr>
      <vt:lpstr>Task</vt:lpstr>
      <vt:lpstr>Data</vt:lpstr>
      <vt:lpstr>GitHub: 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Modelling Workshop</dc:title>
  <dc:creator>Kevin da Silva Castanheira</dc:creator>
  <cp:lastModifiedBy>Kevin da Silva Castanheira</cp:lastModifiedBy>
  <cp:revision>20</cp:revision>
  <dcterms:created xsi:type="dcterms:W3CDTF">2018-05-22T13:37:31Z</dcterms:created>
  <dcterms:modified xsi:type="dcterms:W3CDTF">2018-05-29T12:56:31Z</dcterms:modified>
</cp:coreProperties>
</file>